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1088" r:id="rId3"/>
    <p:sldId id="1113" r:id="rId4"/>
    <p:sldId id="1114" r:id="rId5"/>
    <p:sldId id="1115" r:id="rId6"/>
    <p:sldId id="1091" r:id="rId7"/>
    <p:sldId id="1089" r:id="rId8"/>
    <p:sldId id="1093" r:id="rId9"/>
    <p:sldId id="1090" r:id="rId10"/>
    <p:sldId id="1092" r:id="rId11"/>
    <p:sldId id="1094" r:id="rId12"/>
    <p:sldId id="1095" r:id="rId13"/>
    <p:sldId id="1096" r:id="rId14"/>
    <p:sldId id="1108" r:id="rId15"/>
    <p:sldId id="1097" r:id="rId16"/>
    <p:sldId id="1098" r:id="rId17"/>
    <p:sldId id="1099" r:id="rId18"/>
    <p:sldId id="1102" r:id="rId19"/>
    <p:sldId id="1109" r:id="rId20"/>
    <p:sldId id="1110" r:id="rId21"/>
    <p:sldId id="1111" r:id="rId22"/>
    <p:sldId id="1100" r:id="rId23"/>
    <p:sldId id="1101" r:id="rId24"/>
    <p:sldId id="1112" r:id="rId25"/>
    <p:sldId id="1103" r:id="rId26"/>
    <p:sldId id="1104" r:id="rId27"/>
    <p:sldId id="1105" r:id="rId28"/>
    <p:sldId id="1107" r:id="rId29"/>
    <p:sldId id="110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DA41287-E34C-4EAD-9F31-03879271219D}">
          <p14:sldIdLst>
            <p14:sldId id="256"/>
            <p14:sldId id="1088"/>
            <p14:sldId id="1113"/>
            <p14:sldId id="1114"/>
            <p14:sldId id="1115"/>
            <p14:sldId id="1091"/>
            <p14:sldId id="1089"/>
            <p14:sldId id="1093"/>
            <p14:sldId id="1090"/>
            <p14:sldId id="1092"/>
            <p14:sldId id="1094"/>
            <p14:sldId id="1095"/>
            <p14:sldId id="1096"/>
            <p14:sldId id="1108"/>
            <p14:sldId id="1097"/>
            <p14:sldId id="1098"/>
            <p14:sldId id="1099"/>
            <p14:sldId id="1102"/>
            <p14:sldId id="1109"/>
            <p14:sldId id="1110"/>
            <p14:sldId id="1111"/>
            <p14:sldId id="1100"/>
            <p14:sldId id="1101"/>
            <p14:sldId id="1112"/>
            <p14:sldId id="1103"/>
            <p14:sldId id="1104"/>
            <p14:sldId id="1105"/>
            <p14:sldId id="1107"/>
            <p14:sldId id="11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B942D-084E-4554-8B8C-61A2D2BC9A70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D8B25-B662-4CD0-A7C4-7230F74EE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71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FA554-F48D-7D77-6D02-F1184EFF4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7FB0A2-3035-BE36-ECD9-1D800DAF9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F1A163-4E8D-72D4-9674-6C601C7C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125F-CEC0-439A-8435-32F1BF12E9D1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C00DE-4BA2-79BB-36CE-1A77EE57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073A92-055E-F94D-F701-96C62F3C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00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DFC6-DCAC-0EAB-4B94-E8454157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946F7-D216-FF83-7E93-8D401BD6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02F105-A896-C72D-8568-39107819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C4876-F512-4052-98F9-A3FA0C6BBB97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42F00-2590-0E67-755B-C432E887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0BB308-6352-F45F-491E-B4EC8B20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05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48F46-4E95-E34C-FE61-144AF5FF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2321F9-518E-CE3F-0956-E1CE9F07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6CBB34-5F11-E3DF-7B49-8CF06465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FDDDD-27F5-4A2E-9CB7-5B239CF78E10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E3E39-2C49-EF95-B3D7-110768AF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85895C-2617-6A93-5857-8E16932A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395A0-9295-014A-7CCF-247BB03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7CFF2-FA03-A5F2-C65D-BB15A0B71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1AE87C-2535-D2F6-0DE5-9B74E8939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A6BCA3-755B-DAC6-649A-B8900D36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1627-A33B-44E8-AA14-8E0EA7CC5AC2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4A13D6-9379-D08F-34B5-0B4C46A2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D1AA81-E4AA-34EE-D8B1-D78BDF24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62320-1810-E7E8-871B-4472721A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415C95-1AA3-FBC1-8EF6-0152263C0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51FA66-81FF-23A5-1AF7-F366F012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6FA903-7AF9-5527-492A-3BAB223B5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A369CD-650D-0265-E788-C7DF1D958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1E9870-9DBC-B54D-495F-DAD37BAE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FEFA6-DAA9-4144-84CF-29B4D9DAB0AD}" type="datetime1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D68076-5B9E-21FA-F45A-43991A0C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C82D7C-979C-CE6F-8BBE-65A5152C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14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ADB-33D5-69A4-4A35-5B3E0F87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5FF826-B6D3-CB75-845D-BC8F3504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6C66-2F19-4B3B-AA66-2987AC434911}" type="datetime1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1E5FE4-7061-800A-D3E2-E50E2941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0A7778-D533-5BAE-7FC8-11F81C50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46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133F41-1410-780D-D132-9B36F6CA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0777-F8F2-4BE0-BC84-B7F32E0E96C4}" type="datetime1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4BFF41-BF6F-0FEE-5266-FFDADACE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BFFA60-98F2-3EED-D273-72057F01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17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DF242-C5BA-AFB4-714A-F5E50167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152CB-06B9-0EE9-10E8-9E8BC8803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115926-E24D-DC6B-52E3-1D5A3A60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A052E8-21A5-EBF8-58C4-B7A5237E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C10F-A43A-4663-82BB-781D232A9B9F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C71B38-7F49-788A-5D04-AB1B4A8F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DF12F4-3AFE-6218-27FF-7F38A248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02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0F0B2-2492-75D1-2944-EA4E9A1F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290A29-7088-20C5-B9AB-4B7568D47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91081-4A05-6B67-5EF5-64D10558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31F831-E45A-989B-C717-BAD0DF3A1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1990-A1B9-4E4E-92F1-28FACA1F0F59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C086F2-BF71-A6DF-F47F-26BD472B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857A6A-AB4E-02BF-5782-5C62C1BA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67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7D07D-5161-1D10-7046-78D50133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1617F0-4443-3073-C16B-480597515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9D01B-D62F-DF4A-95A9-E4CE19B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F3A2-B589-4AA7-AA38-BFEAE2AA2BC4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4D23F3-4064-EFB6-059D-AC9E12A1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9E7AE-E8CF-BC8B-8363-3F2CE06A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6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0506AD-1505-DDEF-51EE-790842CB3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406B56-1D5A-E81D-09D0-D81E51402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97D3E0-0C49-5A39-A019-73F95D3E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B9BD-F8E5-4D61-9987-251B22D260E5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E5617-4B36-A89E-20AE-4DD12929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AC61CA-0ED3-BA34-B1B9-D15BA8B4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26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01FEE6-2958-AE3F-0B7B-E1627544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D1726-7085-88CD-62E1-1CF03A98C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31F67-EFE4-6419-5BC4-C69D988C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8813F-9701-42F1-92CC-731AB773862F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5A9B14-FC8B-359A-029E-1EBF89842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23BF0B-931A-AB05-2134-6B3E149DC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01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2BC8E-3ECC-3345-1FCA-139C317BF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Algoritmos </a:t>
            </a:r>
            <a:b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 Lógica de Programação - ALP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080F11-4A7A-CE53-2471-263C6F0DC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Prof. Dr. Murillo Carvalho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34641522-8A6B-7A07-F09A-16684FEC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1000" dirty="0">
                <a:solidFill>
                  <a:srgbClr val="FFFFFF"/>
                </a:solidFill>
              </a:rPr>
              <a:t>Compiladores- Prof. Dr. Murillo Carvalho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D5DDEFDD-6271-6501-9CF3-0D2678BE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8C9477D5-0EDA-4B06-BF89-1CA39DCC6595}" type="datetime1">
              <a:rPr lang="pt-BR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12/05/2026</a:t>
            </a:fld>
            <a:endParaRPr lang="pt-B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185FC10-17BC-7148-3672-39E2867E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1B195F-5D52-4885-9C09-71AF69D09491}" type="slidenum">
              <a:rPr lang="pt-B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pt-B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72EB2EDA-5A92-F117-8833-A60ACBEE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2175"/>
            <a:ext cx="1666875" cy="8858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103D858-430E-F62F-345D-6F02A1DCD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0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5A07-98E3-BEF5-CD78-E1C9B8F8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B5E0-5647-268D-E2E3-99C8DD9D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541172-19A6-AD01-6EE8-9732F6AF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BEEAD0-72C3-72BE-E8FF-679B5C6D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65FC4B0-AF63-4843-A009-097760B36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EBCE7B-024D-8ECE-CF63-859587E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590DC9-516B-09A8-EC9D-70375249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9794185-EF4D-503D-716F-D9F64F85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946A807-6D68-42C0-D6AE-24ED92D2B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A9E226C-4C66-E6ED-43E5-BF1E746D8AA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17CB4C-3B09-0D24-C080-7605039BEEE3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07C3FF-1E2D-5299-8F10-66E7244D0CBF}"/>
              </a:ext>
            </a:extLst>
          </p:cNvPr>
          <p:cNvSpPr txBox="1"/>
          <p:nvPr/>
        </p:nvSpPr>
        <p:spPr>
          <a:xfrm>
            <a:off x="2651996" y="2993162"/>
            <a:ext cx="6479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AULA: Introdução ao </a:t>
            </a:r>
            <a:r>
              <a:rPr lang="pt-BR" sz="3200" b="1" dirty="0" err="1"/>
              <a:t>Raylib</a:t>
            </a:r>
            <a:r>
              <a:rPr lang="pt-BR" sz="3200" b="1" dirty="0"/>
              <a:t> </a:t>
            </a:r>
            <a:r>
              <a:rPr lang="pt-BR" sz="3200" b="1" dirty="0">
                <a:solidFill>
                  <a:srgbClr val="FF0000"/>
                </a:solidFill>
              </a:rPr>
              <a:t>Programação de Jogos em C</a:t>
            </a:r>
          </a:p>
          <a:p>
            <a:pPr algn="ctr"/>
            <a:r>
              <a:rPr lang="pt-BR" sz="3200" b="1" dirty="0">
                <a:highlight>
                  <a:srgbClr val="00FF00"/>
                </a:highlight>
              </a:rPr>
              <a:t>ARQUITETURA DO CÓDIGO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FCE8596-675C-AED0-795C-DE2959561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7148" y="939020"/>
            <a:ext cx="1704395" cy="102567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13E341-B6D2-08F7-B760-88E7CB467FEF}"/>
              </a:ext>
            </a:extLst>
          </p:cNvPr>
          <p:cNvSpPr txBox="1"/>
          <p:nvPr/>
        </p:nvSpPr>
        <p:spPr>
          <a:xfrm>
            <a:off x="4839460" y="586529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https://www.raylib.com/</a:t>
            </a:r>
          </a:p>
        </p:txBody>
      </p:sp>
    </p:spTree>
    <p:extLst>
      <p:ext uri="{BB962C8B-B14F-4D97-AF65-F5344CB8AC3E}">
        <p14:creationId xmlns:p14="http://schemas.microsoft.com/office/powerpoint/2010/main" val="10371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B9EB-E0AC-492F-C890-138BD9EF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5BF8A-BA53-28FD-FCE6-B0E8D886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B106C3-1945-34D3-AED8-6C20B6E8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E8C6959-E963-DD14-FDA5-B96767F0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6DA3341-4B58-F129-4791-A4F5FEF46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487EC-D47E-C758-1AFC-0FC43EB2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4A76A6-DD5B-B663-3A78-E6C508E5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0593994-A2AA-2D54-F34E-835DFDDC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34A7086-1181-6F13-4173-C84C30BB2B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AFED384-75F4-94E3-7999-FEDE7501E08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D3B63F-AB20-A4DA-44DE-FB1C7891ED73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0785B2-4DEC-D668-5627-C44637CD0606}"/>
              </a:ext>
            </a:extLst>
          </p:cNvPr>
          <p:cNvSpPr txBox="1"/>
          <p:nvPr/>
        </p:nvSpPr>
        <p:spPr>
          <a:xfrm>
            <a:off x="1406520" y="1946026"/>
            <a:ext cx="6479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highlight>
                  <a:srgbClr val="00FF00"/>
                </a:highlight>
              </a:rPr>
              <a:t>MAS ANTES...Vejamos CPU e GPU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9A4C969-FBEE-1E72-B04D-F9DE2FB19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7148" y="939020"/>
            <a:ext cx="1704395" cy="102567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2E670E-FE81-C713-028D-49BE0A2E1093}"/>
              </a:ext>
            </a:extLst>
          </p:cNvPr>
          <p:cNvSpPr txBox="1"/>
          <p:nvPr/>
        </p:nvSpPr>
        <p:spPr>
          <a:xfrm>
            <a:off x="4839460" y="586529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https://www.raylib.com/</a:t>
            </a:r>
          </a:p>
        </p:txBody>
      </p:sp>
      <p:pic>
        <p:nvPicPr>
          <p:cNvPr id="15" name="Imagem 14" descr="O que é uma Virtual GPU? | Blog da NVIDIA">
            <a:extLst>
              <a:ext uri="{FF2B5EF4-FFF2-40B4-BE49-F238E27FC236}">
                <a16:creationId xmlns:a16="http://schemas.microsoft.com/office/drawing/2014/main" id="{588E454C-688C-717A-32EF-BE11AD6DE8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654" y="2640952"/>
            <a:ext cx="5338434" cy="339974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F812860F-FD4A-AA2D-51F7-B640C13A6698}"/>
              </a:ext>
            </a:extLst>
          </p:cNvPr>
          <p:cNvSpPr txBox="1"/>
          <p:nvPr/>
        </p:nvSpPr>
        <p:spPr>
          <a:xfrm>
            <a:off x="7484126" y="2751564"/>
            <a:ext cx="42454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Os </a:t>
            </a:r>
            <a:r>
              <a:rPr lang="pt-BR" b="1" dirty="0" err="1"/>
              <a:t>quadradrinho</a:t>
            </a:r>
            <a:r>
              <a:rPr lang="pt-BR" b="1" dirty="0"/>
              <a:t> são os cores onde acontece todos os cálculos:</a:t>
            </a:r>
            <a:br>
              <a:rPr lang="pt-BR" b="1" dirty="0"/>
            </a:br>
            <a:endParaRPr lang="pt-BR" b="1" dirty="0"/>
          </a:p>
          <a:p>
            <a:pPr>
              <a:buNone/>
            </a:pPr>
            <a:r>
              <a:rPr lang="pt-BR" b="1" dirty="0"/>
              <a:t>CPU = poucos engenheiros super especialistas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8 gênios resolvendo problemas complexos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GPU = exército gigantesco de ope</a:t>
            </a:r>
          </a:p>
        </p:txBody>
      </p:sp>
    </p:spTree>
    <p:extLst>
      <p:ext uri="{BB962C8B-B14F-4D97-AF65-F5344CB8AC3E}">
        <p14:creationId xmlns:p14="http://schemas.microsoft.com/office/powerpoint/2010/main" val="338528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6DBC-F66D-7763-10B0-90FC279A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D8BEC-3550-1C6F-8E06-7563D6D9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751577-2448-8D3F-15AB-65B3E5820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EEACFE-39C3-F30C-42EF-F04A1E004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ED18841-50B4-CA3D-6512-578E95C12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BE88DC-FA00-2F4B-FCAC-2C642E99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0B5CBD-5152-094F-6FB9-62B7B343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46838B8-EECF-98DD-DC08-9058876D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740AB79-2B2E-E887-0F88-321ABD164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72C8B49-482C-B4CB-C5AE-3F35D7F7C859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EF7A256-886E-1118-41C0-2AEF1E9366D2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64DD8D-6C20-8759-3720-E84634A69E5F}"/>
              </a:ext>
            </a:extLst>
          </p:cNvPr>
          <p:cNvSpPr txBox="1"/>
          <p:nvPr/>
        </p:nvSpPr>
        <p:spPr>
          <a:xfrm>
            <a:off x="828674" y="1567447"/>
            <a:ext cx="7485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highlight>
                  <a:srgbClr val="00FF00"/>
                </a:highlight>
              </a:rPr>
              <a:t>MAS ANTES...O que é </a:t>
            </a:r>
            <a:r>
              <a:rPr lang="pt-BR" sz="3200" b="1" dirty="0" err="1">
                <a:highlight>
                  <a:srgbClr val="00FF00"/>
                </a:highlight>
              </a:rPr>
              <a:t>Engine</a:t>
            </a:r>
            <a:r>
              <a:rPr lang="pt-BR" sz="3200" b="1" dirty="0">
                <a:highlight>
                  <a:srgbClr val="00FF00"/>
                </a:highlight>
              </a:rPr>
              <a:t> do Jogo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016FC1F-10CF-0433-0C1A-32369AAF8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7148" y="939020"/>
            <a:ext cx="1704395" cy="1025676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7BEA4E2E-447F-B6E3-ED58-ADCCA7249F08}"/>
              </a:ext>
            </a:extLst>
          </p:cNvPr>
          <p:cNvSpPr txBox="1"/>
          <p:nvPr/>
        </p:nvSpPr>
        <p:spPr>
          <a:xfrm>
            <a:off x="3297522" y="2259814"/>
            <a:ext cx="647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Um conjunto de sistemas prontos que ajudam a criar jogos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CDB5636-D98F-BB4B-0D81-636993544D7E}"/>
              </a:ext>
            </a:extLst>
          </p:cNvPr>
          <p:cNvSpPr txBox="1"/>
          <p:nvPr/>
        </p:nvSpPr>
        <p:spPr>
          <a:xfrm>
            <a:off x="1605516" y="306727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uma </a:t>
            </a:r>
            <a:r>
              <a:rPr lang="pt-BR" b="1" dirty="0" err="1"/>
              <a:t>engine</a:t>
            </a:r>
            <a:r>
              <a:rPr lang="pt-BR" b="1" dirty="0"/>
              <a:t>?</a:t>
            </a:r>
          </a:p>
          <a:p>
            <a:pPr>
              <a:buNone/>
            </a:pPr>
            <a:r>
              <a:rPr lang="pt-BR" dirty="0"/>
              <a:t>Uma </a:t>
            </a:r>
            <a:r>
              <a:rPr lang="pt-BR" dirty="0" err="1"/>
              <a:t>engine</a:t>
            </a:r>
            <a:r>
              <a:rPr lang="pt-BR" dirty="0"/>
              <a:t> é como: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o “motor” do jogo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20ECDFC-B4A0-4062-FBB9-9820EE0594E7}"/>
              </a:ext>
            </a:extLst>
          </p:cNvPr>
          <p:cNvSpPr txBox="1"/>
          <p:nvPr/>
        </p:nvSpPr>
        <p:spPr>
          <a:xfrm>
            <a:off x="5206995" y="3017104"/>
            <a:ext cx="64796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Ela fornece:</a:t>
            </a:r>
          </a:p>
          <a:p>
            <a:pPr>
              <a:buNone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gráficos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áudio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física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animação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câmera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colisão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gerenciamento de memória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renderização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7A77AFB0-353F-6529-2C5D-F3F819E4B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654" y="4170866"/>
            <a:ext cx="299126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4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C3B0-1633-189F-584A-2801EAB5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3A21A-BEA0-E560-E086-D264C695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EE2777-6509-4366-1562-83661C911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61960C-6074-04E1-1E9F-05F1B346D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AACE07C-D625-0752-35CF-9F2099CFB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9A5C33-1C67-593E-82DE-CAE27F83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CEB981-6BAF-DA66-3631-A87F1C98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1B39B078-2582-3A1E-3DC1-91DC487A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2AAFB93-19B2-6206-DFC6-1B1645480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557986-5A63-4C13-4AC3-648FB3BD22EF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A839650-97B3-0A81-F675-AE2949ED5D9F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04EE7B-7F7A-16E6-D933-B9AA153D8506}"/>
              </a:ext>
            </a:extLst>
          </p:cNvPr>
          <p:cNvSpPr txBox="1"/>
          <p:nvPr/>
        </p:nvSpPr>
        <p:spPr>
          <a:xfrm>
            <a:off x="828674" y="1567447"/>
            <a:ext cx="7485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highlight>
                  <a:srgbClr val="00FF00"/>
                </a:highlight>
              </a:rPr>
              <a:t>MAS ANTES...O que é </a:t>
            </a:r>
            <a:r>
              <a:rPr lang="pt-BR" sz="3200" b="1" dirty="0" err="1">
                <a:highlight>
                  <a:srgbClr val="00FF00"/>
                </a:highlight>
              </a:rPr>
              <a:t>Engine</a:t>
            </a:r>
            <a:r>
              <a:rPr lang="pt-BR" sz="3200" b="1" dirty="0">
                <a:highlight>
                  <a:srgbClr val="00FF00"/>
                </a:highlight>
              </a:rPr>
              <a:t> do Jogo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1D9E1C2-8D7C-F526-9FCC-F570B3832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7148" y="939020"/>
            <a:ext cx="1704395" cy="1025676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051BDD85-4A54-C44B-58A6-50165EF3FADE}"/>
              </a:ext>
            </a:extLst>
          </p:cNvPr>
          <p:cNvSpPr txBox="1"/>
          <p:nvPr/>
        </p:nvSpPr>
        <p:spPr>
          <a:xfrm>
            <a:off x="7868861" y="3429000"/>
            <a:ext cx="3763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Acesse o link abaixo para entender rapidamente sobre </a:t>
            </a:r>
            <a:r>
              <a:rPr lang="pt-BR" b="1" dirty="0" err="1"/>
              <a:t>Engines</a:t>
            </a:r>
            <a:r>
              <a:rPr lang="pt-BR" b="1" dirty="0"/>
              <a:t>:</a:t>
            </a:r>
            <a:br>
              <a:rPr lang="pt-BR" b="1" dirty="0">
                <a:solidFill>
                  <a:srgbClr val="FF0000"/>
                </a:solidFill>
              </a:rPr>
            </a:br>
            <a:br>
              <a:rPr lang="pt-BR" b="1" dirty="0">
                <a:solidFill>
                  <a:srgbClr val="FF0000"/>
                </a:solidFill>
              </a:rPr>
            </a:br>
            <a:r>
              <a:rPr lang="pt-BR" b="1" dirty="0">
                <a:solidFill>
                  <a:srgbClr val="FF0000"/>
                </a:solidFill>
              </a:rPr>
              <a:t>https://www.youtube.com/watch?v=hlAGcobbqcA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D56529F-CFBD-221D-746D-BFDAEABAB4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654" y="2632152"/>
            <a:ext cx="5784077" cy="318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8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F742E-FA12-5F09-C5D2-3841DF92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7551B-145D-4115-CF38-898E1328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8D442D-B3B1-CD01-223D-46A110B27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C3A283C-8AF0-FAE7-F8A5-79403CCF8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82ED84-FBBF-84F0-1AE0-0E2FE0E03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771BA5-47C5-9EA2-E58E-651DC55D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80F8D2-7E92-5039-7F20-F3536332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A6440B0-5889-B4DE-3BF8-7FBE869E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A177B2B-0531-EA8C-485C-F5AF7EECC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66EDB98-382C-42BF-2FA4-6697454E41D4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697FCB-6085-3A20-35E7-8813EF813945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A70041-9FD1-4547-A741-672F6BE1F9A9}"/>
              </a:ext>
            </a:extLst>
          </p:cNvPr>
          <p:cNvSpPr txBox="1"/>
          <p:nvPr/>
        </p:nvSpPr>
        <p:spPr>
          <a:xfrm>
            <a:off x="1662112" y="2016126"/>
            <a:ext cx="90835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O que é arquitetura no </a:t>
            </a:r>
            <a:r>
              <a:rPr lang="pt-BR" b="1" dirty="0" err="1">
                <a:highlight>
                  <a:srgbClr val="FFFF00"/>
                </a:highlight>
              </a:rPr>
              <a:t>codigo</a:t>
            </a:r>
            <a:r>
              <a:rPr lang="pt-BR" b="1" dirty="0">
                <a:highlight>
                  <a:srgbClr val="FFFF00"/>
                </a:highlight>
              </a:rPr>
              <a:t> e para que serve?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br>
              <a:rPr lang="pt-BR" dirty="0"/>
            </a:br>
            <a:r>
              <a:rPr lang="pt-BR" dirty="0"/>
              <a:t>Quando você começa a entender </a:t>
            </a:r>
            <a:r>
              <a:rPr lang="pt-BR" b="1" dirty="0"/>
              <a:t>arquitetura</a:t>
            </a:r>
            <a:r>
              <a:rPr lang="pt-BR" dirty="0"/>
              <a:t>, você sai de “escrever código” e começa a aprender </a:t>
            </a:r>
            <a:r>
              <a:rPr lang="pt-BR" b="1" dirty="0"/>
              <a:t>engenharia de software</a:t>
            </a:r>
            <a:r>
              <a:rPr lang="pt-BR" dirty="0"/>
              <a:t>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Programar é: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fazer funcionar</a:t>
            </a:r>
          </a:p>
          <a:p>
            <a:pPr>
              <a:buNone/>
            </a:pPr>
            <a:r>
              <a:rPr lang="pt-BR" b="1" dirty="0"/>
              <a:t>Arquitetura é: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organizar para crescer sem virar caos</a:t>
            </a:r>
          </a:p>
        </p:txBody>
      </p:sp>
    </p:spTree>
    <p:extLst>
      <p:ext uri="{BB962C8B-B14F-4D97-AF65-F5344CB8AC3E}">
        <p14:creationId xmlns:p14="http://schemas.microsoft.com/office/powerpoint/2010/main" val="363607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5CFA-8E79-A20E-0AB3-F5280C56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4BB7F-5110-FD4E-C5DB-DA22737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146794-4086-38E8-2D4C-34FDDC14A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1411B1-D7F2-AAE1-A79A-17E709B1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3CDF6FA-4E47-30A8-F4A9-B2B45DBE1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AC838-D87D-773A-1F08-EF53807809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21EB1B-17F6-DDE1-CC42-6BA4C990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ED5A6C4F-4E1B-18EF-77F6-D480FB85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ECE61D8-1A92-790F-7A55-6D0148104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2DC40E-6610-F94B-3F5D-946E6904961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ECFE05-53EB-F16D-48DB-996D65CD5C9E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C584F26-7B67-4C6B-814F-A50E976EC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643" y="2173390"/>
            <a:ext cx="6680608" cy="44028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F6E018-8C6D-6023-2C83-28509E826FDB}"/>
              </a:ext>
            </a:extLst>
          </p:cNvPr>
          <p:cNvSpPr txBox="1"/>
          <p:nvPr/>
        </p:nvSpPr>
        <p:spPr>
          <a:xfrm>
            <a:off x="1684407" y="1506022"/>
            <a:ext cx="647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highlight>
                  <a:srgbClr val="FFFF00"/>
                </a:highlight>
              </a:rPr>
              <a:t>CÓDIDO DA ETAPA 1</a:t>
            </a:r>
            <a:endParaRPr lang="pt-B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724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C048-2192-777A-A248-6F37AB13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D6584-7CE4-F78D-BCA0-D91A699E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EED7FA-0DE4-1253-EE82-CA7D6A10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C57D5B-DE21-B896-3870-D11A03AB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10404DC-5226-F33D-711C-E933B10B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CEC7A7-E8B1-A486-32C1-BE89D0E7F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01F19D-562E-BA7D-DC87-DE0D3584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9F5F3304-4C9F-C272-2672-660CD31C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88B6252-889A-6279-6629-01C75616F2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3F18716-32EA-C0D4-0D09-F27720CC503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3FAAAEC-FFBF-649B-F8BE-788A45417745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896E32-41AD-DFD9-0823-F304CC84974C}"/>
              </a:ext>
            </a:extLst>
          </p:cNvPr>
          <p:cNvSpPr txBox="1"/>
          <p:nvPr/>
        </p:nvSpPr>
        <p:spPr>
          <a:xfrm>
            <a:off x="2640724" y="2524909"/>
            <a:ext cx="64796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arquitetura no código?</a:t>
            </a:r>
          </a:p>
          <a:p>
            <a:pPr>
              <a:buNone/>
            </a:pPr>
            <a:r>
              <a:rPr lang="pt-BR" dirty="0"/>
              <a:t>Arquitetura é a forma como: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sistema é dividido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os componentes se organizam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as responsabilidades são separadas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código se comunica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C2D28A9-5E14-124B-B3AF-921A861E0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827" y="1723629"/>
            <a:ext cx="3487567" cy="410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7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4BD8-7FA1-3BBE-BAE6-8579736B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B79AB-4AD2-BDB5-A246-4DDB90F1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3FCB25-4213-0743-20A9-EBF0C5525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4C82EB-31B0-4002-732F-45FE9D96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E54642-8E31-326B-59EA-4885B9AE2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73F29A-07F9-1391-2B50-FA2E6411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B92C72-7083-2162-2D9E-48A0253D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AF7E2185-4B71-49C7-57C2-BCF6810B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E420DB1-7B05-063D-5B1E-E1B149AC9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E6966CE-013B-662A-E2B5-6329C81A367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CF81B2-DC02-AABA-F1F7-9BA71E7D44CE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84741A-23A2-1E46-499A-DA8839B198B4}"/>
              </a:ext>
            </a:extLst>
          </p:cNvPr>
          <p:cNvSpPr txBox="1"/>
          <p:nvPr/>
        </p:nvSpPr>
        <p:spPr>
          <a:xfrm>
            <a:off x="2483070" y="1922062"/>
            <a:ext cx="6479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Exemplo de arquitetura simples</a:t>
            </a:r>
          </a:p>
          <a:p>
            <a:pPr>
              <a:buNone/>
            </a:pPr>
            <a:endParaRPr lang="pt-BR" b="1" dirty="0"/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meu_jogo</a:t>
            </a:r>
            <a:r>
              <a:rPr lang="pt-BR" dirty="0">
                <a:latin typeface="Courier New" panose="02070309020205020404" pitchFamily="49" charset="0"/>
              </a:rPr>
              <a:t>/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│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main.c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player.c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player.h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enemy.c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enemy.h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audio.c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audio.h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├── </a:t>
            </a:r>
            <a:r>
              <a:rPr lang="pt-BR" dirty="0" err="1">
                <a:latin typeface="Courier New" panose="02070309020205020404" pitchFamily="49" charset="0"/>
              </a:rPr>
              <a:t>assets</a:t>
            </a:r>
            <a:r>
              <a:rPr lang="pt-BR" dirty="0">
                <a:latin typeface="Courier New" panose="02070309020205020404" pitchFamily="49" charset="0"/>
              </a:rPr>
              <a:t>/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│   ├── player.png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│   ├── tiro.mp3</a:t>
            </a:r>
          </a:p>
        </p:txBody>
      </p:sp>
    </p:spTree>
    <p:extLst>
      <p:ext uri="{BB962C8B-B14F-4D97-AF65-F5344CB8AC3E}">
        <p14:creationId xmlns:p14="http://schemas.microsoft.com/office/powerpoint/2010/main" val="4267070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FA3A-83C1-B72F-8216-6351A6773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24AF1-47A2-E689-237C-F8CAAC06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250AA9-25BE-DEDE-4D21-032A9A22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D1B448D-F929-C3BC-11E6-C84DA98C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316566-8418-8E74-E11F-71DF8FAA7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A7BFE3-D533-BFDC-07C0-55E1988A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A25879-1898-0374-DF51-943930CD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6DF25B0-D919-3836-5351-A0E74DC6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7E480C4-4B59-AF24-7A5F-A56AC001F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FD0F0DC-DF9F-A707-D4FF-74DEDD40CB3F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383CAA-383E-C82D-1351-4B1F81830F3D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67F6C2-8C80-7B89-B702-976B21E4AFC3}"/>
              </a:ext>
            </a:extLst>
          </p:cNvPr>
          <p:cNvSpPr txBox="1"/>
          <p:nvPr/>
        </p:nvSpPr>
        <p:spPr>
          <a:xfrm>
            <a:off x="1662112" y="2518847"/>
            <a:ext cx="42972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arquitetura no código?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Arquitetura é a forma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sistema é dividido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os componentes se organizam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as responsabilidades são separadas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código se comunica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33C482A-2F8D-10AD-AF90-AB8BCF20184A}"/>
              </a:ext>
            </a:extLst>
          </p:cNvPr>
          <p:cNvSpPr txBox="1"/>
          <p:nvPr/>
        </p:nvSpPr>
        <p:spPr>
          <a:xfrm>
            <a:off x="6469119" y="1562001"/>
            <a:ext cx="38257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Analogia simples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>
                <a:highlight>
                  <a:srgbClr val="FFFF00"/>
                </a:highlight>
              </a:rPr>
              <a:t>Imagine uma cidade.</a:t>
            </a:r>
          </a:p>
          <a:p>
            <a:pPr>
              <a:buNone/>
            </a:pPr>
            <a:r>
              <a:rPr lang="pt-BR" dirty="0">
                <a:highlight>
                  <a:srgbClr val="FFFF00"/>
                </a:highlight>
              </a:rPr>
              <a:t>Uma cidade NÃO é: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tudo misturado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hospital dentro da padaria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aeroporto dentro da escola </a:t>
            </a:r>
          </a:p>
          <a:p>
            <a:pPr>
              <a:buNone/>
            </a:pPr>
            <a:r>
              <a:rPr lang="pt-BR" dirty="0"/>
              <a:t>Existe organização: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006EED9-EE80-9DFE-26FA-D5E73C2C7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954" y="3995025"/>
            <a:ext cx="4707363" cy="148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9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7AA8-38C3-B39F-403C-17C7E4F9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93E82-5FE0-5F75-E3BB-BEAC6FB8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B893E4-D61C-B210-972F-028E1FC39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6BBBD66-49D0-1592-BBEC-BF89E495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6DEA438-B034-361E-060A-9FDF83100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5C543-4260-6CF7-0282-1E50FD2A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BFEA1F-7094-3A6F-EAD4-BD078790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E9F268B-89F5-FBDE-2BFB-43E608F1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11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38F306A-8612-D6F6-A9A0-AFC62F3239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6C2107D-B7D8-7A0F-1776-CC8F46687053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AAE332-4C38-AF19-0ACC-44CC17E9A418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D92651C-906B-E1A4-F581-1A2D65B38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613" y="1545395"/>
            <a:ext cx="6680608" cy="44028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91613D-624F-9EA9-82E1-F81E0F8DD258}"/>
              </a:ext>
            </a:extLst>
          </p:cNvPr>
          <p:cNvSpPr txBox="1"/>
          <p:nvPr/>
        </p:nvSpPr>
        <p:spPr>
          <a:xfrm>
            <a:off x="1562654" y="2091223"/>
            <a:ext cx="32110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MESMOOOO DENTRO DO CÓDIGO  - HÁ UMA HIERARQUIA!!!</a:t>
            </a:r>
          </a:p>
          <a:p>
            <a:endParaRPr lang="pt-BR" b="1" dirty="0">
              <a:highlight>
                <a:srgbClr val="FFFF00"/>
              </a:highlight>
            </a:endParaRPr>
          </a:p>
          <a:p>
            <a:r>
              <a:rPr lang="pt-BR" b="1" dirty="0">
                <a:highlight>
                  <a:srgbClr val="FFFF00"/>
                </a:highlight>
              </a:rPr>
              <a:t>O código do </a:t>
            </a:r>
            <a:r>
              <a:rPr lang="pt-BR" b="1" dirty="0" err="1">
                <a:highlight>
                  <a:srgbClr val="FFFF00"/>
                </a:highlight>
              </a:rPr>
              <a:t>Raylib</a:t>
            </a:r>
            <a:r>
              <a:rPr lang="pt-BR" b="1" dirty="0">
                <a:highlight>
                  <a:srgbClr val="FFFF00"/>
                </a:highlight>
              </a:rPr>
              <a:t> </a:t>
            </a:r>
            <a:r>
              <a:rPr lang="pt-BR" dirty="0">
                <a:highlight>
                  <a:srgbClr val="FFFF00"/>
                </a:highlight>
              </a:rPr>
              <a:t>NÃO está organizado aleatoriamente.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b="1" i="1" dirty="0">
                <a:highlight>
                  <a:srgbClr val="FFFF00"/>
                </a:highlight>
              </a:rPr>
              <a:t>Cada comando aparece naquele lugar </a:t>
            </a:r>
            <a:r>
              <a:rPr lang="pt-BR" dirty="0">
                <a:highlight>
                  <a:srgbClr val="FFFF00"/>
                </a:highlight>
              </a:rPr>
              <a:t>porque existe um fluxo obrigatório de funcionamento da </a:t>
            </a:r>
            <a:r>
              <a:rPr lang="pt-BR" dirty="0" err="1">
                <a:highlight>
                  <a:srgbClr val="FFFF00"/>
                </a:highlight>
              </a:rPr>
              <a:t>engine</a:t>
            </a:r>
            <a:r>
              <a:rPr lang="pt-BR" dirty="0">
                <a:highlight>
                  <a:srgbClr val="FFFF00"/>
                </a:highlight>
              </a:rPr>
              <a:t> gráfica e da GPU.</a:t>
            </a:r>
          </a:p>
        </p:txBody>
      </p:sp>
    </p:spTree>
    <p:extLst>
      <p:ext uri="{BB962C8B-B14F-4D97-AF65-F5344CB8AC3E}">
        <p14:creationId xmlns:p14="http://schemas.microsoft.com/office/powerpoint/2010/main" val="1690267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D203-6854-8D26-B4FE-CEA517FD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7C8A9-EF2A-BA84-F51B-286FAB69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FCFFFD-B6FD-713F-4FB0-C98DBA03D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729ED3-AF0E-2291-448D-1240B5C42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5194EEE-A044-DC81-5C82-A353CD28C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561E2-4E64-9143-59E8-2893E533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E5B9FD-CB71-2ABD-74E1-1882CE81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AD41D88F-1D57-1A1A-1113-558A8B58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A6E70C9-8925-F3F3-7CFB-FD8F33EC97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A4BDA46-1F71-CAFA-85A2-4F372DD2D0FF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74A988-E7C3-0904-58CC-5B3D7F857423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C7D38B-D94F-0D20-B090-AE6E2CE3C006}"/>
              </a:ext>
            </a:extLst>
          </p:cNvPr>
          <p:cNvSpPr txBox="1"/>
          <p:nvPr/>
        </p:nvSpPr>
        <p:spPr>
          <a:xfrm>
            <a:off x="2104696" y="1690688"/>
            <a:ext cx="64796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/>
              <a:t>Estrutura Geral do Programa</a:t>
            </a:r>
          </a:p>
          <a:p>
            <a:pPr>
              <a:buNone/>
            </a:pPr>
            <a:endParaRPr lang="pt-BR" b="1"/>
          </a:p>
          <a:p>
            <a:pPr>
              <a:buNone/>
            </a:pPr>
            <a:r>
              <a:rPr lang="pt-BR">
                <a:highlight>
                  <a:srgbClr val="FFFF00"/>
                </a:highlight>
              </a:rPr>
              <a:t>O programa segue esta arquitetura:</a:t>
            </a:r>
          </a:p>
          <a:p>
            <a:pPr rtl="0">
              <a:buNone/>
            </a:pPr>
            <a:r>
              <a:rPr lang="pt-BR">
                <a:latin typeface="Courier New" panose="02070309020205020404" pitchFamily="49" charset="0"/>
              </a:rPr>
              <a:t>1. Importar biblioteca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2. Entrar no programa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3. Criar janela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4. Entrar no loop do jogo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5. Começar frame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6. Limpar tela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7. Desenhar coisas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8. Mostrar frame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9. Repetir</a:t>
            </a:r>
            <a:br>
              <a:rPr lang="pt-BR">
                <a:latin typeface="Courier New" panose="02070309020205020404" pitchFamily="49" charset="0"/>
              </a:rPr>
            </a:br>
            <a:r>
              <a:rPr lang="pt-BR">
                <a:latin typeface="Courier New" panose="02070309020205020404" pitchFamily="49" charset="0"/>
              </a:rPr>
              <a:t>10. Fechar janela</a:t>
            </a:r>
            <a:endParaRPr lang="pt-BR" dirty="0">
              <a:latin typeface="Courier New" panose="02070309020205020404" pitchFamily="49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057D551-C17B-9604-BDB7-13E728AA6F7A}"/>
              </a:ext>
            </a:extLst>
          </p:cNvPr>
          <p:cNvSpPr txBox="1"/>
          <p:nvPr/>
        </p:nvSpPr>
        <p:spPr>
          <a:xfrm>
            <a:off x="3211032" y="5790982"/>
            <a:ext cx="7619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Isso é praticamente a estrutura base de quase todos os jogos 2D.</a:t>
            </a:r>
          </a:p>
        </p:txBody>
      </p:sp>
    </p:spTree>
    <p:extLst>
      <p:ext uri="{BB962C8B-B14F-4D97-AF65-F5344CB8AC3E}">
        <p14:creationId xmlns:p14="http://schemas.microsoft.com/office/powerpoint/2010/main" val="1792628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58E2-2396-FF56-C034-60ACCADE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FE6DE-5685-AFA4-AFA6-6AB67B68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Algorítmos e Lógica de Programação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1BD3A7-B2FD-C17B-A9C2-84E1A3B3D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D36EBE2-DA1E-5CE0-E0E3-84666BC7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3464ED1-100A-F2CF-FB99-3F73618B2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5399B-3565-00E2-81B4-EE999B56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64C142-2655-0EB3-2FD0-978F603F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97006F1C-E4F9-AE22-BAE6-3DCEC8C0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8F0C989-41FA-58FF-4FAC-6702FE77B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AC162F3-A477-BCCA-87E4-749D4DE11F5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A81271-D07D-33C1-6F6A-BE13A290C327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A97955-6D61-7600-79E1-CB4930444450}"/>
              </a:ext>
            </a:extLst>
          </p:cNvPr>
          <p:cNvSpPr txBox="1"/>
          <p:nvPr/>
        </p:nvSpPr>
        <p:spPr>
          <a:xfrm>
            <a:off x="1605516" y="2078039"/>
            <a:ext cx="3325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pt-BR" sz="1400" dirty="0"/>
            </a:br>
            <a:r>
              <a:rPr lang="pt-BR" sz="1400" b="1" dirty="0"/>
              <a:t>Por que fica no topo?</a:t>
            </a:r>
          </a:p>
          <a:p>
            <a:pPr>
              <a:buNone/>
            </a:pPr>
            <a:r>
              <a:rPr lang="pt-BR" sz="1400" dirty="0"/>
              <a:t>Porque o compilador precisa conhecer: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funções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tipos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constantes </a:t>
            </a:r>
          </a:p>
          <a:p>
            <a:pPr>
              <a:buNone/>
            </a:pPr>
            <a:r>
              <a:rPr lang="pt-BR" sz="1400" dirty="0"/>
              <a:t>ANTES de compilar o código.</a:t>
            </a:r>
          </a:p>
          <a:p>
            <a:pPr>
              <a:buNone/>
            </a:pPr>
            <a:br>
              <a:rPr lang="pt-BR" sz="1400" dirty="0"/>
            </a:br>
            <a:r>
              <a:rPr lang="pt-BR" sz="1400" b="1" dirty="0"/>
              <a:t>O que acontece se remover?</a:t>
            </a:r>
          </a:p>
          <a:p>
            <a:pPr>
              <a:buNone/>
            </a:pPr>
            <a:r>
              <a:rPr lang="pt-BR" sz="1400" dirty="0"/>
              <a:t>O compilador não conhece:</a:t>
            </a:r>
          </a:p>
          <a:p>
            <a:pPr rtl="0">
              <a:buNone/>
            </a:pPr>
            <a:r>
              <a:rPr lang="pt-BR" sz="1400" dirty="0" err="1">
                <a:latin typeface="Courier New" panose="02070309020205020404" pitchFamily="49" charset="0"/>
              </a:rPr>
              <a:t>InitWindow</a:t>
            </a:r>
            <a:r>
              <a:rPr lang="pt-BR" sz="1400" dirty="0">
                <a:latin typeface="Courier New" panose="02070309020205020404" pitchFamily="49" charset="0"/>
              </a:rPr>
              <a:t>()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DrawText</a:t>
            </a:r>
            <a:r>
              <a:rPr lang="pt-BR" sz="1400" dirty="0">
                <a:latin typeface="Courier New" panose="02070309020205020404" pitchFamily="49" charset="0"/>
              </a:rPr>
              <a:t>()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BeginDrawing</a:t>
            </a:r>
            <a:r>
              <a:rPr lang="pt-BR" sz="1400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pt-BR" sz="1400" dirty="0"/>
              <a:t>Então ocorre erro:</a:t>
            </a:r>
          </a:p>
          <a:p>
            <a:pPr rtl="0">
              <a:buNone/>
            </a:pPr>
            <a:r>
              <a:rPr lang="pt-BR" sz="1400" dirty="0" err="1">
                <a:latin typeface="Courier New" panose="02070309020205020404" pitchFamily="49" charset="0"/>
              </a:rPr>
              <a:t>undefined</a:t>
            </a:r>
            <a:r>
              <a:rPr lang="pt-BR" sz="1400" dirty="0"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latin typeface="Courier New" panose="02070309020205020404" pitchFamily="49" charset="0"/>
              </a:rPr>
              <a:t>reference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>
                <a:latin typeface="Courier New" panose="02070309020205020404" pitchFamily="49" charset="0"/>
              </a:rPr>
              <a:t>ou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implicit</a:t>
            </a:r>
            <a:r>
              <a:rPr lang="pt-BR" sz="1400" dirty="0"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latin typeface="Courier New" panose="02070309020205020404" pitchFamily="49" charset="0"/>
              </a:rPr>
              <a:t>declaration</a:t>
            </a:r>
            <a:endParaRPr lang="pt-BR" sz="1400" dirty="0"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pt-BR" sz="1400" dirty="0"/>
            </a:br>
            <a:endParaRPr lang="pt-BR" sz="1400" dirty="0"/>
          </a:p>
          <a:p>
            <a:pPr>
              <a:buNone/>
            </a:pPr>
            <a:endParaRPr lang="pt-BR" sz="1400" dirty="0">
              <a:latin typeface="Courier New" panose="02070309020205020404" pitchFamily="49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3A5430-0FD8-071A-5B79-E2AD229DDE94}"/>
              </a:ext>
            </a:extLst>
          </p:cNvPr>
          <p:cNvSpPr txBox="1"/>
          <p:nvPr/>
        </p:nvSpPr>
        <p:spPr>
          <a:xfrm>
            <a:off x="5206995" y="2305234"/>
            <a:ext cx="64796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b="1" dirty="0"/>
              <a:t>É obrigatório?</a:t>
            </a:r>
          </a:p>
          <a:p>
            <a:pPr>
              <a:buNone/>
            </a:pPr>
            <a:r>
              <a:rPr lang="pt-BR" sz="1400" dirty="0"/>
              <a:t>Sim.</a:t>
            </a:r>
          </a:p>
          <a:p>
            <a:pPr>
              <a:buNone/>
            </a:pPr>
            <a:r>
              <a:rPr lang="pt-BR" sz="1400" dirty="0"/>
              <a:t>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a </a:t>
            </a:r>
            <a:r>
              <a:rPr lang="pt-BR" sz="1400" dirty="0" err="1"/>
              <a:t>raylib</a:t>
            </a:r>
            <a:r>
              <a:rPr lang="pt-BR" sz="1400" dirty="0"/>
              <a:t> é externa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o compilador precisa importar as definições </a:t>
            </a:r>
          </a:p>
          <a:p>
            <a:pPr>
              <a:buNone/>
            </a:pPr>
            <a:br>
              <a:rPr lang="pt-BR" sz="1400" dirty="0"/>
            </a:br>
            <a:endParaRPr lang="pt-BR" sz="1400" dirty="0"/>
          </a:p>
          <a:p>
            <a:pPr>
              <a:buNone/>
            </a:pPr>
            <a:r>
              <a:rPr lang="pt-BR" sz="1400" b="1" dirty="0"/>
              <a:t>O que existe dentro do </a:t>
            </a:r>
            <a:r>
              <a:rPr lang="pt-BR" sz="1400" b="1" dirty="0" err="1"/>
              <a:t>raylib.h</a:t>
            </a:r>
            <a:r>
              <a:rPr lang="pt-BR" sz="1400" b="1" dirty="0"/>
              <a:t>?</a:t>
            </a:r>
          </a:p>
          <a:p>
            <a:pPr>
              <a:buNone/>
            </a:pPr>
            <a:r>
              <a:rPr lang="pt-BR" sz="1400" dirty="0"/>
              <a:t>Existe: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declaração de funções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 err="1"/>
              <a:t>structs</a:t>
            </a:r>
            <a:r>
              <a:rPr lang="pt-BR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 err="1">
                <a:solidFill>
                  <a:srgbClr val="FF0000"/>
                </a:solidFill>
              </a:rPr>
              <a:t>enums</a:t>
            </a:r>
            <a:r>
              <a:rPr lang="pt-BR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constantes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tipos </a:t>
            </a:r>
          </a:p>
          <a:p>
            <a:pPr>
              <a:buNone/>
            </a:pPr>
            <a:r>
              <a:rPr lang="pt-BR" sz="1400" dirty="0"/>
              <a:t>Exemplo interno:</a:t>
            </a:r>
          </a:p>
          <a:p>
            <a:pPr rtl="0">
              <a:buNone/>
            </a:pPr>
            <a:r>
              <a:rPr lang="pt-BR" sz="1400" dirty="0" err="1">
                <a:latin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latin typeface="Courier New" panose="02070309020205020404" pitchFamily="49" charset="0"/>
              </a:rPr>
              <a:t>InitWindow</a:t>
            </a:r>
            <a:r>
              <a:rPr lang="pt-BR" sz="1400" dirty="0">
                <a:latin typeface="Courier New" panose="02070309020205020404" pitchFamily="49" charset="0"/>
              </a:rPr>
              <a:t>(</a:t>
            </a:r>
            <a:r>
              <a:rPr lang="pt-BR" sz="1400" dirty="0" err="1">
                <a:latin typeface="Courier New" panose="02070309020205020404" pitchFamily="49" charset="0"/>
              </a:rPr>
              <a:t>int</a:t>
            </a:r>
            <a:r>
              <a:rPr lang="pt-BR" sz="1400" dirty="0"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latin typeface="Courier New" panose="02070309020205020404" pitchFamily="49" charset="0"/>
              </a:rPr>
              <a:t>width</a:t>
            </a:r>
            <a:r>
              <a:rPr lang="pt-BR" sz="1400" dirty="0">
                <a:latin typeface="Courier New" panose="02070309020205020404" pitchFamily="49" charset="0"/>
              </a:rPr>
              <a:t>, </a:t>
            </a:r>
            <a:r>
              <a:rPr lang="pt-BR" sz="1400" dirty="0" err="1">
                <a:latin typeface="Courier New" panose="02070309020205020404" pitchFamily="49" charset="0"/>
              </a:rPr>
              <a:t>int</a:t>
            </a:r>
            <a:r>
              <a:rPr lang="pt-BR" sz="1400" dirty="0"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latin typeface="Courier New" panose="02070309020205020404" pitchFamily="49" charset="0"/>
              </a:rPr>
              <a:t>height</a:t>
            </a:r>
            <a:r>
              <a:rPr lang="pt-BR" sz="1400" dirty="0">
                <a:latin typeface="Courier New" panose="02070309020205020404" pitchFamily="49" charset="0"/>
              </a:rPr>
              <a:t>, </a:t>
            </a:r>
            <a:r>
              <a:rPr lang="pt-BR" sz="1400" dirty="0" err="1">
                <a:latin typeface="Courier New" panose="02070309020205020404" pitchFamily="49" charset="0"/>
              </a:rPr>
              <a:t>const</a:t>
            </a:r>
            <a:r>
              <a:rPr lang="pt-BR" sz="1400" dirty="0">
                <a:latin typeface="Courier New" panose="02070309020205020404" pitchFamily="49" charset="0"/>
              </a:rPr>
              <a:t> char *</a:t>
            </a:r>
            <a:r>
              <a:rPr lang="pt-BR" sz="1400" dirty="0" err="1">
                <a:latin typeface="Courier New" panose="02070309020205020404" pitchFamily="49" charset="0"/>
              </a:rPr>
              <a:t>title</a:t>
            </a:r>
            <a:r>
              <a:rPr lang="pt-BR" sz="1400" dirty="0">
                <a:latin typeface="Courier New" panose="02070309020205020404" pitchFamily="49" charset="0"/>
              </a:rPr>
              <a:t>);</a:t>
            </a:r>
            <a:endParaRPr lang="pt-BR" sz="1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68C1D5-7D90-3005-264B-308CA5077996}"/>
              </a:ext>
            </a:extLst>
          </p:cNvPr>
          <p:cNvSpPr txBox="1"/>
          <p:nvPr/>
        </p:nvSpPr>
        <p:spPr>
          <a:xfrm>
            <a:off x="4646333" y="1440595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>
                <a:highlight>
                  <a:srgbClr val="FFFF00"/>
                </a:highlight>
              </a:rPr>
              <a:t>1. #include "</a:t>
            </a:r>
            <a:r>
              <a:rPr lang="pt-BR" sz="1800" b="1" dirty="0" err="1">
                <a:highlight>
                  <a:srgbClr val="FFFF00"/>
                </a:highlight>
              </a:rPr>
              <a:t>raylib.h</a:t>
            </a:r>
            <a:r>
              <a:rPr lang="pt-BR" sz="1800" b="1" dirty="0">
                <a:highlight>
                  <a:srgbClr val="FFFF00"/>
                </a:highlight>
              </a:rPr>
              <a:t>"</a:t>
            </a:r>
          </a:p>
          <a:p>
            <a:pPr rtl="0">
              <a:buNone/>
            </a:pPr>
            <a:r>
              <a:rPr lang="pt-BR" sz="1800" dirty="0">
                <a:highlight>
                  <a:srgbClr val="FFFF00"/>
                </a:highlight>
                <a:latin typeface="Courier New" panose="02070309020205020404" pitchFamily="49" charset="0"/>
              </a:rPr>
              <a:t>#include "</a:t>
            </a:r>
            <a:r>
              <a:rPr lang="pt-BR" sz="1800" dirty="0" err="1">
                <a:highlight>
                  <a:srgbClr val="FFFF00"/>
                </a:highlight>
                <a:latin typeface="Courier New" panose="02070309020205020404" pitchFamily="49" charset="0"/>
              </a:rPr>
              <a:t>raylib.h</a:t>
            </a:r>
            <a:r>
              <a:rPr lang="pt-BR" sz="1800" dirty="0">
                <a:latin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2100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6E5F-B0E1-52C4-458A-372A2E89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E30FE-0FFE-BBC5-8ACE-E5337E06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Algorítmos e Lógica de Programação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F510E5-9B20-F45F-0D38-8481B7F9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2567D2-4749-CD15-3EF1-3596265A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2782C76-E55B-EDF5-77C6-A370EA51F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8EB7D1-AC1C-007F-2C64-5A3AB85C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EFF620-E747-F30E-063E-0E38E41C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E42F432F-28B2-6573-07BA-E66E09A1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8155A3-AFF4-08E6-CD82-0AD93977CF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602AED6-D099-7D1B-2709-93EB236D7C79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1530B1-ED57-D575-FE3F-7941DFB00792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CDB8547-A16F-162D-CA83-F4617F796740}"/>
              </a:ext>
            </a:extLst>
          </p:cNvPr>
          <p:cNvSpPr txBox="1"/>
          <p:nvPr/>
        </p:nvSpPr>
        <p:spPr>
          <a:xfrm>
            <a:off x="4646333" y="1440595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>
                <a:highlight>
                  <a:srgbClr val="FFFF00"/>
                </a:highlight>
              </a:rPr>
              <a:t>1. #include "</a:t>
            </a:r>
            <a:r>
              <a:rPr lang="pt-BR" sz="1800" b="1" dirty="0" err="1">
                <a:highlight>
                  <a:srgbClr val="FFFF00"/>
                </a:highlight>
              </a:rPr>
              <a:t>raylib.h</a:t>
            </a:r>
            <a:r>
              <a:rPr lang="pt-BR" sz="1800" b="1" dirty="0">
                <a:highlight>
                  <a:srgbClr val="FFFF00"/>
                </a:highlight>
              </a:rPr>
              <a:t>"</a:t>
            </a:r>
          </a:p>
          <a:p>
            <a:pPr rtl="0">
              <a:buNone/>
            </a:pPr>
            <a:r>
              <a:rPr lang="pt-BR" sz="1800" dirty="0">
                <a:highlight>
                  <a:srgbClr val="FFFF00"/>
                </a:highlight>
                <a:latin typeface="Courier New" panose="02070309020205020404" pitchFamily="49" charset="0"/>
              </a:rPr>
              <a:t>#include "</a:t>
            </a:r>
            <a:r>
              <a:rPr lang="pt-BR" sz="1800" dirty="0" err="1">
                <a:highlight>
                  <a:srgbClr val="FFFF00"/>
                </a:highlight>
                <a:latin typeface="Courier New" panose="02070309020205020404" pitchFamily="49" charset="0"/>
              </a:rPr>
              <a:t>raylib.h</a:t>
            </a:r>
            <a:r>
              <a:rPr lang="pt-BR" sz="1800" dirty="0">
                <a:latin typeface="Courier New" panose="02070309020205020404" pitchFamily="49" charset="0"/>
              </a:rPr>
              <a:t>"</a:t>
            </a:r>
          </a:p>
        </p:txBody>
      </p:sp>
      <p:pic>
        <p:nvPicPr>
          <p:cNvPr id="11" name="Imagem 10" descr="Enumeration in C - C Tutorial">
            <a:extLst>
              <a:ext uri="{FF2B5EF4-FFF2-40B4-BE49-F238E27FC236}">
                <a16:creationId xmlns:a16="http://schemas.microsoft.com/office/drawing/2014/main" id="{F92662F2-990E-C04F-667A-C7FBFB224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33" y="2289743"/>
            <a:ext cx="5891187" cy="32900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582E48B-D7A2-D5FB-6194-5171F44EF8E4}"/>
              </a:ext>
            </a:extLst>
          </p:cNvPr>
          <p:cNvSpPr txBox="1"/>
          <p:nvPr/>
        </p:nvSpPr>
        <p:spPr>
          <a:xfrm>
            <a:off x="1422285" y="2289743"/>
            <a:ext cx="32240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Em C, </a:t>
            </a:r>
            <a:r>
              <a:rPr lang="pt-BR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enum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(enumeração) </a:t>
            </a:r>
            <a:r>
              <a:rPr lang="pt-BR" dirty="0"/>
              <a:t>é um tipo de dado definido pelo usuário que agrupa um conjunto de </a:t>
            </a:r>
            <a:r>
              <a:rPr lang="pt-BR" b="1" dirty="0">
                <a:effectLst/>
              </a:rPr>
              <a:t>constantes inteiras nomeadas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. Ele serve para tornar o código mais legível e fácil de manter, substituindo números mágicos (</a:t>
            </a:r>
            <a:r>
              <a:rPr lang="pt-BR" b="0" i="0" dirty="0" err="1">
                <a:solidFill>
                  <a:srgbClr val="0A0A0A"/>
                </a:solidFill>
                <a:effectLst/>
                <a:latin typeface="Google Sans"/>
              </a:rPr>
              <a:t>ex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: 0, 1, 2) por nomes significativos (</a:t>
            </a:r>
            <a:r>
              <a:rPr lang="pt-BR" b="0" i="0" dirty="0" err="1">
                <a:solidFill>
                  <a:srgbClr val="0A0A0A"/>
                </a:solidFill>
                <a:effectLst/>
                <a:latin typeface="Google Sans"/>
              </a:rPr>
              <a:t>ex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: SEG, TER, QUA). Por padrão, os itens começam em 0 e incrementam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E1EF907-22A1-72D9-F830-946D016F2313}"/>
              </a:ext>
            </a:extLst>
          </p:cNvPr>
          <p:cNvSpPr txBox="1"/>
          <p:nvPr/>
        </p:nvSpPr>
        <p:spPr>
          <a:xfrm>
            <a:off x="2018940" y="5981161"/>
            <a:ext cx="9413880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Valores Automáticos: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pt-BR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enum Dias {SEG, TER, QUA};</a:t>
            </a:r>
            <a:r>
              <a:rPr lang="pt-BR" b="1" i="0" dirty="0">
                <a:solidFill>
                  <a:srgbClr val="FF0000"/>
                </a:solidFill>
                <a:effectLst/>
                <a:latin typeface="Google Sans"/>
              </a:rPr>
              <a:t> -&gt; SEG=0, TER=1, QUA=2.</a:t>
            </a:r>
          </a:p>
        </p:txBody>
      </p:sp>
    </p:spTree>
    <p:extLst>
      <p:ext uri="{BB962C8B-B14F-4D97-AF65-F5344CB8AC3E}">
        <p14:creationId xmlns:p14="http://schemas.microsoft.com/office/powerpoint/2010/main" val="278419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11B0-5BB7-D194-8822-CB509900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E31A8-DCEA-7DCE-0978-C277D04C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EC380E-918C-F053-3AEE-7A4D5B72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412DB99-6408-9742-38D6-8EE3B9679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0B1E85-069E-6793-9B75-BBD4A9305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151C29-0F63-FE7A-9215-05D04BF9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B6B9BE-6778-E7DD-6B5B-C12BFCD0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E554C14-087B-6AE3-6E02-F29B6508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04C2A59-C09F-31FB-2B83-E7769DB88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9D54312-DF53-9C87-A38A-8EFFA8087BF4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E59CB17-FAC5-228D-D7C1-6B51EC7074E7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B492BC-2887-626C-C3AC-468B790802CD}"/>
              </a:ext>
            </a:extLst>
          </p:cNvPr>
          <p:cNvSpPr txBox="1"/>
          <p:nvPr/>
        </p:nvSpPr>
        <p:spPr>
          <a:xfrm>
            <a:off x="2380593" y="2192357"/>
            <a:ext cx="73100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existe?</a:t>
            </a:r>
          </a:p>
          <a:p>
            <a:pPr>
              <a:buNone/>
            </a:pPr>
            <a:r>
              <a:rPr lang="pt-BR" dirty="0"/>
              <a:t>Porque o sistema operacional procura a função: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main</a:t>
            </a:r>
            <a:r>
              <a:rPr lang="pt-BR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pt-BR" dirty="0"/>
              <a:t>para iniciar o programa.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Sim.</a:t>
            </a:r>
          </a:p>
          <a:p>
            <a:pPr>
              <a:buNone/>
            </a:pPr>
            <a:r>
              <a:rPr lang="pt-BR" dirty="0"/>
              <a:t>Em C, todo programa começa pela </a:t>
            </a:r>
            <a:r>
              <a:rPr lang="pt-BR" dirty="0" err="1">
                <a:latin typeface="Courier New" panose="02070309020205020404" pitchFamily="49" charset="0"/>
              </a:rPr>
              <a:t>main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O que acontece internamente?</a:t>
            </a:r>
          </a:p>
          <a:p>
            <a:pPr>
              <a:buNone/>
            </a:pPr>
            <a:r>
              <a:rPr lang="pt-BR" dirty="0"/>
              <a:t>O Windows/Linux: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carrega o executável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chama: 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main</a:t>
            </a:r>
            <a:r>
              <a:rPr lang="pt-BR" dirty="0"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E57B79-D289-7E92-C513-9DF496D22A8E}"/>
              </a:ext>
            </a:extLst>
          </p:cNvPr>
          <p:cNvSpPr txBox="1"/>
          <p:nvPr/>
        </p:nvSpPr>
        <p:spPr>
          <a:xfrm>
            <a:off x="4953194" y="1366668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2. </a:t>
            </a:r>
            <a:r>
              <a:rPr lang="pt-BR" b="1" dirty="0" err="1">
                <a:highlight>
                  <a:srgbClr val="FFFF00"/>
                </a:highlight>
              </a:rPr>
              <a:t>int</a:t>
            </a:r>
            <a:r>
              <a:rPr lang="pt-BR" b="1" dirty="0">
                <a:highlight>
                  <a:srgbClr val="FFFF00"/>
                </a:highlight>
              </a:rPr>
              <a:t> </a:t>
            </a:r>
            <a:r>
              <a:rPr lang="pt-BR" b="1" dirty="0" err="1">
                <a:highlight>
                  <a:srgbClr val="FFFF00"/>
                </a:highlight>
              </a:rPr>
              <a:t>main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int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main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95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A49E-7B99-B356-72F0-AD8DF98B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EAFD6-ED7B-84F8-7459-167F6FAD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88D045-037B-EF29-E271-23A590AF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37B69EE-9E6F-BD47-C1F7-BB04A62AC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6223515-0C3C-AA8E-A4CA-2619545A5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892056-45D0-6E72-D37E-88EBD0F3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AA7DB-1BD5-5547-58FD-1FED16F1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60B2FDF-C795-74D4-A8D9-523FAD06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C2977EF-9C62-BE50-782C-5E4C67118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C96ACA6-1240-3AA0-2850-D50FB6CC6611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1CF4AC-CE9D-8EA6-C588-D3E19A261634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27405E6-ED24-181E-44A5-C230E49530C2}"/>
              </a:ext>
            </a:extLst>
          </p:cNvPr>
          <p:cNvSpPr txBox="1"/>
          <p:nvPr/>
        </p:nvSpPr>
        <p:spPr>
          <a:xfrm>
            <a:off x="1933454" y="2526425"/>
            <a:ext cx="388402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b="1" dirty="0"/>
              <a:t>Por que vem antes do loop?</a:t>
            </a:r>
          </a:p>
          <a:p>
            <a:pPr>
              <a:buNone/>
            </a:pPr>
            <a:r>
              <a:rPr lang="pt-BR" sz="1400" dirty="0"/>
              <a:t>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primeiro precisamos criar a janela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contexto OpenGL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comunicação com GPU </a:t>
            </a:r>
          </a:p>
          <a:p>
            <a:pPr>
              <a:buNone/>
            </a:pPr>
            <a:r>
              <a:rPr lang="pt-BR" sz="1400" dirty="0"/>
              <a:t>ANTES de desenhar qualquer coisa.</a:t>
            </a:r>
            <a:br>
              <a:rPr lang="pt-BR" sz="1400" dirty="0"/>
            </a:br>
            <a:endParaRPr lang="pt-BR" sz="1400" dirty="0"/>
          </a:p>
          <a:p>
            <a:pPr>
              <a:buNone/>
            </a:pPr>
            <a:r>
              <a:rPr lang="pt-BR" sz="1400" b="1" dirty="0"/>
              <a:t>O que acontece internamente?</a:t>
            </a:r>
          </a:p>
          <a:p>
            <a:pPr>
              <a:buNone/>
            </a:pPr>
            <a:r>
              <a:rPr lang="pt-BR" sz="1400" dirty="0"/>
              <a:t>Essa função: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cria janela do sistema operacional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inicializa OpenGL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cria buffers gráficos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conecta GPU </a:t>
            </a:r>
            <a:br>
              <a:rPr lang="pt-BR" sz="1400" dirty="0"/>
            </a:br>
            <a:endParaRPr lang="pt-BR" sz="1400" dirty="0"/>
          </a:p>
          <a:p>
            <a:pPr>
              <a:buNone/>
            </a:pPr>
            <a:endParaRPr lang="pt-BR" sz="1400" dirty="0">
              <a:latin typeface="Courier New" panose="02070309020205020404" pitchFamily="49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1EE9F1-14F4-B48F-8AFF-D9766601A506}"/>
              </a:ext>
            </a:extLst>
          </p:cNvPr>
          <p:cNvSpPr txBox="1"/>
          <p:nvPr/>
        </p:nvSpPr>
        <p:spPr>
          <a:xfrm>
            <a:off x="3415863" y="1435213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3. </a:t>
            </a:r>
            <a:r>
              <a:rPr lang="pt-BR" b="1" dirty="0" err="1">
                <a:highlight>
                  <a:srgbClr val="FFFF00"/>
                </a:highlight>
              </a:rPr>
              <a:t>InitWindow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InitWindow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(800, 600, "Meu Primeiro Game");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02705E-BE4C-ABE4-B6A1-0E3AA04D7525}"/>
              </a:ext>
            </a:extLst>
          </p:cNvPr>
          <p:cNvSpPr txBox="1"/>
          <p:nvPr/>
        </p:nvSpPr>
        <p:spPr>
          <a:xfrm>
            <a:off x="5817476" y="2862541"/>
            <a:ext cx="6479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b="1" dirty="0"/>
              <a:t>É obrigatório?</a:t>
            </a:r>
          </a:p>
          <a:p>
            <a:pPr>
              <a:buNone/>
            </a:pPr>
            <a:r>
              <a:rPr lang="pt-BR" sz="1400" dirty="0"/>
              <a:t>Sim.</a:t>
            </a:r>
          </a:p>
          <a:p>
            <a:pPr>
              <a:buNone/>
            </a:pPr>
            <a:r>
              <a:rPr lang="pt-BR" sz="1400" dirty="0"/>
              <a:t>Sem janela: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não existe tela para desenhar. </a:t>
            </a:r>
          </a:p>
          <a:p>
            <a:pPr>
              <a:buNone/>
            </a:pPr>
            <a:endParaRPr lang="pt-BR" sz="1400" dirty="0"/>
          </a:p>
          <a:p>
            <a:pPr>
              <a:buNone/>
            </a:pPr>
            <a:r>
              <a:rPr lang="pt-BR" sz="1400" b="1" dirty="0"/>
              <a:t>Se tentar desenhar antes?</a:t>
            </a:r>
          </a:p>
          <a:p>
            <a:pPr>
              <a:buNone/>
            </a:pPr>
            <a:r>
              <a:rPr lang="pt-BR" sz="1400" dirty="0"/>
              <a:t>Isso quebra:</a:t>
            </a:r>
          </a:p>
          <a:p>
            <a:pPr rtl="0">
              <a:buNone/>
            </a:pPr>
            <a:r>
              <a:rPr lang="pt-BR" sz="1400" dirty="0">
                <a:latin typeface="Courier New" panose="02070309020205020404" pitchFamily="49" charset="0"/>
              </a:rPr>
              <a:t>a GPU ainda não foi inicializada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93396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40AE-4E98-2DA0-65FF-43EBCB5A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AEDF3-8212-D704-4BEC-A2E5C2FA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29EEBD-CBDB-2179-9155-542614ED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EE7C60-2A25-114C-8890-D4DFDF786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C75156E-E5D4-9618-9A99-11FEDF299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B3B1E9-646D-6EA5-691F-551ED107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CCCA4C-FAA0-B555-6F33-19AF8258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E063811-72B6-F5F8-8D60-10397EBA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D98AA45-257E-BEFE-D49C-A89E23FAD9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5A394F0-B6B7-ABE0-50D6-2F24615CA35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90E17FC-246B-C860-5CBF-00C011511342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8D0A08-7482-27B3-525C-27D4747F4599}"/>
              </a:ext>
            </a:extLst>
          </p:cNvPr>
          <p:cNvSpPr txBox="1"/>
          <p:nvPr/>
        </p:nvSpPr>
        <p:spPr>
          <a:xfrm>
            <a:off x="4038600" y="1318364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4. while (!</a:t>
            </a:r>
            <a:r>
              <a:rPr lang="en-US" b="1" dirty="0" err="1">
                <a:highlight>
                  <a:srgbClr val="FFFF00"/>
                </a:highlight>
              </a:rPr>
              <a:t>WindowShouldClose</a:t>
            </a:r>
            <a:r>
              <a:rPr lang="en-US" b="1" dirty="0">
                <a:highlight>
                  <a:srgbClr val="FFFF00"/>
                </a:highlight>
              </a:rPr>
              <a:t>())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</a:rPr>
              <a:t>while (!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</a:rPr>
              <a:t>WindowShouldClose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</a:rPr>
              <a:t>())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087431-BD8B-68B3-EE87-3BBC11AF8F9F}"/>
              </a:ext>
            </a:extLst>
          </p:cNvPr>
          <p:cNvSpPr txBox="1"/>
          <p:nvPr/>
        </p:nvSpPr>
        <p:spPr>
          <a:xfrm>
            <a:off x="1605516" y="2283085"/>
            <a:ext cx="371277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b="1" dirty="0"/>
              <a:t>Por que existe?</a:t>
            </a:r>
          </a:p>
          <a:p>
            <a:pPr>
              <a:buNone/>
            </a:pPr>
            <a:r>
              <a:rPr lang="pt-BR" sz="1400" dirty="0"/>
              <a:t>Porque jogos precisam atualizar continuamente.</a:t>
            </a:r>
          </a:p>
          <a:p>
            <a:pPr>
              <a:buNone/>
            </a:pPr>
            <a:r>
              <a:rPr lang="pt-BR" sz="1400" dirty="0"/>
              <a:t>O jogo funciona assim:</a:t>
            </a:r>
          </a:p>
          <a:p>
            <a:pPr rtl="0">
              <a:buNone/>
            </a:pPr>
            <a:r>
              <a:rPr lang="pt-BR" sz="1400" dirty="0">
                <a:latin typeface="Courier New" panose="02070309020205020404" pitchFamily="49" charset="0"/>
              </a:rPr>
              <a:t>frame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frame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frame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frame</a:t>
            </a:r>
            <a:br>
              <a:rPr lang="pt-BR" sz="1400" dirty="0">
                <a:latin typeface="Courier New" panose="02070309020205020404" pitchFamily="49" charset="0"/>
              </a:rPr>
            </a:br>
            <a:r>
              <a:rPr lang="pt-BR" sz="1400" dirty="0" err="1">
                <a:latin typeface="Courier New" panose="02070309020205020404" pitchFamily="49" charset="0"/>
              </a:rPr>
              <a:t>frame</a:t>
            </a:r>
            <a:endParaRPr lang="pt-BR" sz="1400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pt-BR" sz="1400" dirty="0"/>
          </a:p>
          <a:p>
            <a:pPr>
              <a:buNone/>
            </a:pPr>
            <a:r>
              <a:rPr lang="pt-BR" sz="1400" b="1" dirty="0"/>
              <a:t>O que acontece sem loop?</a:t>
            </a:r>
          </a:p>
          <a:p>
            <a:pPr>
              <a:buNone/>
            </a:pPr>
            <a:r>
              <a:rPr lang="pt-BR" sz="1400" dirty="0"/>
              <a:t>O programa: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desenharia 1 frame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fecharia instantaneamente </a:t>
            </a:r>
          </a:p>
          <a:p>
            <a:pPr>
              <a:buNone/>
            </a:pPr>
            <a:br>
              <a:rPr lang="pt-BR" sz="1400" dirty="0"/>
            </a:br>
            <a:r>
              <a:rPr lang="pt-BR" sz="1400" b="1" dirty="0"/>
              <a:t>É obrigatório?</a:t>
            </a:r>
          </a:p>
          <a:p>
            <a:pPr>
              <a:buNone/>
            </a:pPr>
            <a:r>
              <a:rPr lang="pt-BR" sz="1400" dirty="0"/>
              <a:t>Sim para jogos em tempo real.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7D4609-48D9-F340-B794-FD0F3D100537}"/>
              </a:ext>
            </a:extLst>
          </p:cNvPr>
          <p:cNvSpPr txBox="1"/>
          <p:nvPr/>
        </p:nvSpPr>
        <p:spPr>
          <a:xfrm>
            <a:off x="5206995" y="2489210"/>
            <a:ext cx="64796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</a:t>
            </a:r>
            <a:r>
              <a:rPr lang="pt-BR" b="1" dirty="0" err="1"/>
              <a:t>WindowShouldClose</a:t>
            </a:r>
            <a:r>
              <a:rPr lang="pt-BR" b="1" dirty="0"/>
              <a:t>() faz?</a:t>
            </a:r>
          </a:p>
          <a:p>
            <a:pPr>
              <a:buNone/>
            </a:pPr>
            <a:r>
              <a:rPr lang="pt-BR" dirty="0"/>
              <a:t>Verifica se for TRUE, ela fecha por meio dos itens abaixo: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botão X da janela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evento de fechamento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Esta função é dizer:</a:t>
            </a:r>
            <a:br>
              <a:rPr lang="pt-BR" dirty="0"/>
            </a:br>
            <a:r>
              <a:rPr lang="pt-BR" dirty="0" err="1"/>
              <a:t>While</a:t>
            </a:r>
            <a:r>
              <a:rPr lang="pt-BR" dirty="0"/>
              <a:t> – repita até...</a:t>
            </a:r>
          </a:p>
          <a:p>
            <a:r>
              <a:rPr lang="pt-BR" dirty="0"/>
              <a:t>! – não</a:t>
            </a:r>
          </a:p>
          <a:p>
            <a:r>
              <a:rPr lang="pt-BR" dirty="0" err="1"/>
              <a:t>WindowShouldClose</a:t>
            </a:r>
            <a:r>
              <a:rPr lang="pt-BR" dirty="0"/>
              <a:t> – A janela deve fechar?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Se não fechar, a função seguinte vai ficar desenhando loops.</a:t>
            </a:r>
          </a:p>
        </p:txBody>
      </p:sp>
    </p:spTree>
    <p:extLst>
      <p:ext uri="{BB962C8B-B14F-4D97-AF65-F5344CB8AC3E}">
        <p14:creationId xmlns:p14="http://schemas.microsoft.com/office/powerpoint/2010/main" val="2305684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52C3-E649-DA66-A134-523167E5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FD9D-50C4-4A65-E89E-6E5553B3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E6C1C4-3C8D-1903-5239-7E3A61A7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6DF595E-E6D0-11F4-A965-D6C807CC2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C20C28E-CC53-8E06-DDDC-1226BAE20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0F8608-4D1C-2A2B-3632-434CB3B4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00404-C468-D52A-6479-8288825C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34570B7-AF35-3EB8-E20D-E705D164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B6E70F2-9F9F-4F1A-85E3-81F08457C6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164A6F0-9046-8D41-79DF-8BE0CD80C863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1CF1613-27D0-8A85-E982-64C2C69DEADE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B63B40-1D3D-444A-89DC-76185210CDDC}"/>
              </a:ext>
            </a:extLst>
          </p:cNvPr>
          <p:cNvSpPr txBox="1"/>
          <p:nvPr/>
        </p:nvSpPr>
        <p:spPr>
          <a:xfrm>
            <a:off x="3430508" y="2149514"/>
            <a:ext cx="64796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aparece antes dos desenhos?</a:t>
            </a:r>
          </a:p>
          <a:p>
            <a:pPr>
              <a:buNone/>
            </a:pPr>
            <a:r>
              <a:rPr lang="pt-BR" dirty="0"/>
              <a:t>Porque ele inicia um NOVO FRAME.</a:t>
            </a:r>
          </a:p>
          <a:p>
            <a:pPr>
              <a:buNone/>
            </a:pPr>
            <a:r>
              <a:rPr lang="pt-BR" dirty="0"/>
              <a:t>Ele avisa: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“GPU, vou começar a desenhar”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O que acontece internamente?</a:t>
            </a:r>
          </a:p>
          <a:p>
            <a:pPr>
              <a:buNone/>
            </a:pPr>
            <a:r>
              <a:rPr lang="pt-BR" dirty="0"/>
              <a:t>Ele: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seleciona </a:t>
            </a:r>
            <a:r>
              <a:rPr lang="pt-BR" dirty="0" err="1"/>
              <a:t>backbuffer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prepara renderização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inicia pipeline gráfico 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Sim.</a:t>
            </a:r>
          </a:p>
          <a:p>
            <a:pPr>
              <a:buNone/>
            </a:pPr>
            <a:r>
              <a:rPr lang="pt-BR" dirty="0"/>
              <a:t>Sem </a:t>
            </a:r>
            <a:r>
              <a:rPr lang="pt-BR" dirty="0" err="1"/>
              <a:t>BeginDrawing</a:t>
            </a:r>
            <a:r>
              <a:rPr lang="pt-B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os desenhos não entram corretamente no pipeline gráfico.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9EB6F6B-FA25-EF4A-8B37-9E77CFFED1CB}"/>
              </a:ext>
            </a:extLst>
          </p:cNvPr>
          <p:cNvSpPr txBox="1"/>
          <p:nvPr/>
        </p:nvSpPr>
        <p:spPr>
          <a:xfrm>
            <a:off x="4501056" y="1334917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5. </a:t>
            </a:r>
            <a:r>
              <a:rPr lang="pt-BR" b="1" dirty="0" err="1">
                <a:highlight>
                  <a:srgbClr val="FFFF00"/>
                </a:highlight>
              </a:rPr>
              <a:t>BeginDrawing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BeginDrawing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4936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7DDC-32C3-A88C-30F7-0CB741C9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F7F4-FCBB-13C0-359A-62C4062D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6D3834-A809-7424-C3B9-F1B3C6D7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0039CD4-8867-7A74-EAED-9971411E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CBDDA5D-65A0-4BFD-2729-A488E52D3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1A27DD-FF95-02C0-A076-4E75D607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5061E3-F44D-3455-FD77-ADC7FD0D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FF1B746-3C66-B671-4988-E53A3C2C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819778E-E3BB-D7E4-4D98-E88A9E6395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A1D6BC4-4F0B-296D-692F-40FA59CE2D79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BCD409-2F9F-489F-1EF1-B1AC32F35AE9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769C561-A16B-5F59-5FA7-5C8705F04811}"/>
              </a:ext>
            </a:extLst>
          </p:cNvPr>
          <p:cNvSpPr txBox="1"/>
          <p:nvPr/>
        </p:nvSpPr>
        <p:spPr>
          <a:xfrm>
            <a:off x="4501056" y="1334917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5. </a:t>
            </a:r>
            <a:r>
              <a:rPr lang="pt-BR" b="1" dirty="0" err="1">
                <a:highlight>
                  <a:srgbClr val="FFFF00"/>
                </a:highlight>
              </a:rPr>
              <a:t>BeginDrawing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BeginDrawing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DBF7145-ED12-8E4A-5BB6-B26E5CC4CDA2}"/>
              </a:ext>
            </a:extLst>
          </p:cNvPr>
          <p:cNvSpPr txBox="1"/>
          <p:nvPr/>
        </p:nvSpPr>
        <p:spPr>
          <a:xfrm>
            <a:off x="1211318" y="2476060"/>
            <a:ext cx="50108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O </a:t>
            </a:r>
            <a:r>
              <a:rPr lang="pt-BR" b="1" dirty="0" err="1"/>
              <a:t>backbuffer</a:t>
            </a:r>
            <a:r>
              <a:rPr lang="pt-BR" dirty="0"/>
              <a:t> é um dos conceitos mais importantes da computação gráfica e dos jogos.</a:t>
            </a:r>
          </a:p>
          <a:p>
            <a:pPr>
              <a:buNone/>
            </a:pPr>
            <a:r>
              <a:rPr lang="pt-BR" dirty="0"/>
              <a:t>Sem ele: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 tela piscaria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apareceria desenho incompleto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jogos ficariam horríveis visualmente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Ele é uma “tela invisível” onde a GPU desenha o próximo frame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F7A3D6-D510-8DC6-9FD8-0F4F58E9E3BE}"/>
              </a:ext>
            </a:extLst>
          </p:cNvPr>
          <p:cNvSpPr txBox="1"/>
          <p:nvPr/>
        </p:nvSpPr>
        <p:spPr>
          <a:xfrm>
            <a:off x="6670321" y="2634812"/>
            <a:ext cx="52011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Analogia simples</a:t>
            </a:r>
          </a:p>
          <a:p>
            <a:pPr>
              <a:buNone/>
            </a:pPr>
            <a:r>
              <a:rPr lang="pt-BR" dirty="0"/>
              <a:t>Imagine um pintor.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Em vez de: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pintar diretamente na parede na frente das pessoas </a:t>
            </a:r>
          </a:p>
          <a:p>
            <a:pPr>
              <a:buNone/>
            </a:pPr>
            <a:r>
              <a:rPr lang="pt-BR" dirty="0"/>
              <a:t>ele: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pinta escondido atrás de uma cortina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Quando termina: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troca rapidamente a pintura pronta. </a:t>
            </a:r>
          </a:p>
          <a:p>
            <a:pPr>
              <a:buNone/>
            </a:pPr>
            <a:r>
              <a:rPr lang="pt-BR" dirty="0"/>
              <a:t>Isso é o </a:t>
            </a:r>
            <a:r>
              <a:rPr lang="pt-BR" dirty="0" err="1"/>
              <a:t>backbuffer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542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6451-CCDA-41DF-E18C-DF1566BD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7E846-EF93-F58D-8664-C292A3C0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18C787-E755-86A9-9065-BCF423CE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0BAE95-023E-F073-25AF-C53AFD8E5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AF9CDF-8398-FB37-831B-ADD08128B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D55BD-A2A4-8A9D-8EB4-4A07665D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609E91-28EE-658F-E520-B050B4E1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9397B1CB-E8A0-FE54-C501-E36B8CC5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2C9642-0B6D-04F3-05B3-FEC2ADE18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EABEE1B-783D-DAD2-7CA1-E761829C89EE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4AB304-0C4E-BA94-25BF-6EDA3BB17218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5901A5-2E53-0579-D634-981B7A3D7D31}"/>
              </a:ext>
            </a:extLst>
          </p:cNvPr>
          <p:cNvSpPr txBox="1"/>
          <p:nvPr/>
        </p:nvSpPr>
        <p:spPr>
          <a:xfrm>
            <a:off x="4501056" y="1334917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5. </a:t>
            </a:r>
            <a:r>
              <a:rPr lang="pt-BR" b="1" dirty="0" err="1">
                <a:highlight>
                  <a:srgbClr val="FFFF00"/>
                </a:highlight>
              </a:rPr>
              <a:t>BeginDrawing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BeginDrawing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6D6692E-3D0B-5526-4C39-0F1F6CB19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152" y="3260451"/>
            <a:ext cx="4735739" cy="149088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605204-2811-E3BC-1A7B-626BAD08E1BF}"/>
              </a:ext>
            </a:extLst>
          </p:cNvPr>
          <p:cNvSpPr txBox="1"/>
          <p:nvPr/>
        </p:nvSpPr>
        <p:spPr>
          <a:xfrm>
            <a:off x="1805152" y="2419022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Em jogos funciona assim</a:t>
            </a:r>
          </a:p>
          <a:p>
            <a:pPr>
              <a:buNone/>
            </a:pPr>
            <a:r>
              <a:rPr lang="pt-BR" b="1" dirty="0"/>
              <a:t>Existe: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79B2808-BE42-7927-53B7-2F2DEC0D8C9A}"/>
              </a:ext>
            </a:extLst>
          </p:cNvPr>
          <p:cNvSpPr txBox="1"/>
          <p:nvPr/>
        </p:nvSpPr>
        <p:spPr>
          <a:xfrm>
            <a:off x="7023538" y="2950360"/>
            <a:ext cx="34920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GPU desenha no </a:t>
            </a:r>
            <a:r>
              <a:rPr lang="pt-BR" dirty="0" err="1"/>
              <a:t>BackBuffer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Frame termina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Buffers trocam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Monitor mostra novo frame</a:t>
            </a:r>
          </a:p>
        </p:txBody>
      </p:sp>
    </p:spTree>
    <p:extLst>
      <p:ext uri="{BB962C8B-B14F-4D97-AF65-F5344CB8AC3E}">
        <p14:creationId xmlns:p14="http://schemas.microsoft.com/office/powerpoint/2010/main" val="366575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CE8A-72BC-AA66-7B2E-A1DCB10A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0439D-86DB-2ED5-AD4D-0A6F11CF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1A0B38-1C34-4CB0-22FE-E677A17B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8B8E79-7A6C-02D0-DCEE-C3F7E272B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1DF6AA-CD6C-BD8A-D667-27AB18F26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A773E-91CF-544B-955B-8B694572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47A65A-B8DC-41C3-0CF1-53457907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176B557-4E82-79D5-32BF-A1F6E4A9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21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A40DABF-FB8C-E707-6AD2-2B32691F7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D85962F-0A90-09B5-F905-47DDEA01FAE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F6506FB-B859-1435-84FD-2EFCFE0F7666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5EACB46-C667-5AF4-BD49-68166F3F38E4}"/>
              </a:ext>
            </a:extLst>
          </p:cNvPr>
          <p:cNvSpPr txBox="1"/>
          <p:nvPr/>
        </p:nvSpPr>
        <p:spPr>
          <a:xfrm>
            <a:off x="4501056" y="1334917"/>
            <a:ext cx="6479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5. </a:t>
            </a:r>
            <a:r>
              <a:rPr lang="pt-BR" b="1" dirty="0" err="1">
                <a:highlight>
                  <a:srgbClr val="FFFF00"/>
                </a:highlight>
              </a:rPr>
              <a:t>BeginDrawing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BeginDrawing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97457A0-2722-3437-27C1-DDF23D8F0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152" y="3260451"/>
            <a:ext cx="4735739" cy="149088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BB88BDF-4BBD-86DC-E66E-D633480BEBFD}"/>
              </a:ext>
            </a:extLst>
          </p:cNvPr>
          <p:cNvSpPr txBox="1"/>
          <p:nvPr/>
        </p:nvSpPr>
        <p:spPr>
          <a:xfrm>
            <a:off x="1805152" y="2419022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Em jogos funciona assim</a:t>
            </a:r>
          </a:p>
          <a:p>
            <a:pPr>
              <a:buNone/>
            </a:pPr>
            <a:r>
              <a:rPr lang="pt-BR" b="1" dirty="0"/>
              <a:t>Existe: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043CA57-DD6E-9A11-CFA0-84E23FD08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7469" y="2574824"/>
            <a:ext cx="7134991" cy="306482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9A96F4-A5B9-2FBB-7817-086419EFC21C}"/>
              </a:ext>
            </a:extLst>
          </p:cNvPr>
          <p:cNvSpPr txBox="1"/>
          <p:nvPr/>
        </p:nvSpPr>
        <p:spPr>
          <a:xfrm>
            <a:off x="8702011" y="2742187"/>
            <a:ext cx="38546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isso existe?</a:t>
            </a:r>
          </a:p>
          <a:p>
            <a:pPr>
              <a:buNone/>
            </a:pPr>
            <a:r>
              <a:rPr lang="pt-BR" dirty="0"/>
              <a:t>Porque desenhar demora.</a:t>
            </a:r>
          </a:p>
          <a:p>
            <a:pPr>
              <a:buNone/>
            </a:pPr>
            <a:r>
              <a:rPr lang="pt-BR" dirty="0"/>
              <a:t>Imagine desenhar: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fundo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personagem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inimigo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HUD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efeitos </a:t>
            </a:r>
          </a:p>
          <a:p>
            <a:pPr>
              <a:buNone/>
            </a:pPr>
            <a:r>
              <a:rPr lang="pt-BR" dirty="0"/>
              <a:t>Tudo leva tempo.</a:t>
            </a:r>
          </a:p>
        </p:txBody>
      </p:sp>
    </p:spTree>
    <p:extLst>
      <p:ext uri="{BB962C8B-B14F-4D97-AF65-F5344CB8AC3E}">
        <p14:creationId xmlns:p14="http://schemas.microsoft.com/office/powerpoint/2010/main" val="2862038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F36C-3938-83C1-20D2-E659FC1A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E9DA8-EA48-2612-A733-83053AE9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5E6F7E-F103-35A5-53CE-F6B580A45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8484DC-7460-05C0-3F33-437A03CF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785B5E7-A25A-5964-413F-B5C861262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8035FB-3030-EFFD-2534-09B53535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A96D75-4A1F-3471-0280-44BCDB69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66B0196-C5AF-1C28-C7BE-7385F226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A2F5307-A63E-401E-6E12-E34625560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8F6CEBD-79BC-9451-38B7-0CE2BFDBC1B8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B376BD-E1DA-BDEE-D406-4DC0E13C8CBD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EA40C8-807B-DDDB-A57A-3DF1AC8608CE}"/>
              </a:ext>
            </a:extLst>
          </p:cNvPr>
          <p:cNvSpPr txBox="1"/>
          <p:nvPr/>
        </p:nvSpPr>
        <p:spPr>
          <a:xfrm>
            <a:off x="4038600" y="1448485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6. </a:t>
            </a:r>
            <a:r>
              <a:rPr lang="pt-BR" b="1" dirty="0" err="1">
                <a:highlight>
                  <a:srgbClr val="FFFF00"/>
                </a:highlight>
              </a:rPr>
              <a:t>ClearBackground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ClearBackground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(RAYWHITE);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BBFC44B-A4C5-80EA-963A-5264BF83BD4C}"/>
              </a:ext>
            </a:extLst>
          </p:cNvPr>
          <p:cNvSpPr txBox="1"/>
          <p:nvPr/>
        </p:nvSpPr>
        <p:spPr>
          <a:xfrm>
            <a:off x="2137735" y="2128043"/>
            <a:ext cx="6479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vem antes do </a:t>
            </a:r>
            <a:r>
              <a:rPr lang="pt-BR" b="1" dirty="0" err="1"/>
              <a:t>DrawText</a:t>
            </a:r>
            <a:r>
              <a:rPr lang="pt-BR" b="1" dirty="0"/>
              <a:t>?</a:t>
            </a:r>
          </a:p>
          <a:p>
            <a:pPr>
              <a:buNone/>
            </a:pPr>
            <a:r>
              <a:rPr lang="pt-BR" dirty="0"/>
              <a:t>Porque precisamos limpar o frame antigo.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O que acontece sem isso?</a:t>
            </a:r>
          </a:p>
          <a:p>
            <a:pPr>
              <a:buNone/>
            </a:pPr>
            <a:r>
              <a:rPr lang="pt-BR" dirty="0"/>
              <a:t>Os frames acumulam: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fantasmas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rastros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efeito borrado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Internamente</a:t>
            </a:r>
          </a:p>
          <a:p>
            <a:pPr>
              <a:buNone/>
            </a:pPr>
            <a:r>
              <a:rPr lang="pt-BR" dirty="0"/>
              <a:t>A GPU pinta toda a tela novamente.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Tecnicamente não.</a:t>
            </a:r>
          </a:p>
          <a:p>
            <a:pPr>
              <a:buNone/>
            </a:pPr>
            <a:r>
              <a:rPr lang="pt-BR" dirty="0"/>
              <a:t>Mas praticamente:</a:t>
            </a:r>
            <a:br>
              <a:rPr lang="pt-BR" dirty="0"/>
            </a:br>
            <a:r>
              <a:rPr lang="pt-BR" dirty="0"/>
              <a:t>sim em jogos normais.</a:t>
            </a:r>
          </a:p>
        </p:txBody>
      </p:sp>
    </p:spTree>
    <p:extLst>
      <p:ext uri="{BB962C8B-B14F-4D97-AF65-F5344CB8AC3E}">
        <p14:creationId xmlns:p14="http://schemas.microsoft.com/office/powerpoint/2010/main" val="385927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B09C-237B-C5C1-531F-0E76CFC5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822E4-9158-4913-950F-CA3AC750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F56C20-E38B-6D1F-22FC-6B62746E9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66B51E-0196-C093-3C7D-E7B555B4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207714F-99CB-F29A-BE91-3158BFEAD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5517DF-B62B-A1F3-9FCF-4966551D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04C58C-2F2D-AB35-D2DF-EFA6CED6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05BA1D3-16C1-4B49-F1F8-B6FC8BCB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71AEF45-6833-D60F-505A-73E2B2D40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990C457-F299-5A76-40B4-4CCA18C6019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D08C80D-9E03-C831-55E6-93EE5DC0D6F7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F22714-A52B-888A-4893-7557DC49AF0F}"/>
              </a:ext>
            </a:extLst>
          </p:cNvPr>
          <p:cNvSpPr txBox="1"/>
          <p:nvPr/>
        </p:nvSpPr>
        <p:spPr>
          <a:xfrm>
            <a:off x="4038600" y="1592372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7. </a:t>
            </a:r>
            <a:r>
              <a:rPr lang="pt-BR" b="1" dirty="0" err="1">
                <a:highlight>
                  <a:srgbClr val="FFFF00"/>
                </a:highlight>
              </a:rPr>
              <a:t>DrawText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DrawText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(...)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42B832D-9433-80E4-B09A-27355D74396A}"/>
              </a:ext>
            </a:extLst>
          </p:cNvPr>
          <p:cNvSpPr txBox="1"/>
          <p:nvPr/>
        </p:nvSpPr>
        <p:spPr>
          <a:xfrm>
            <a:off x="1512268" y="2730520"/>
            <a:ext cx="39912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fica entre </a:t>
            </a:r>
            <a:r>
              <a:rPr lang="pt-BR" b="1" dirty="0" err="1"/>
              <a:t>BeginDrawing</a:t>
            </a:r>
            <a:r>
              <a:rPr lang="pt-BR" b="1" dirty="0"/>
              <a:t> e </a:t>
            </a:r>
            <a:r>
              <a:rPr lang="pt-BR" b="1" dirty="0" err="1"/>
              <a:t>EndDrawing</a:t>
            </a:r>
            <a:r>
              <a:rPr lang="pt-BR" b="1" dirty="0"/>
              <a:t>?</a:t>
            </a:r>
          </a:p>
          <a:p>
            <a:pPr>
              <a:buNone/>
            </a:pPr>
            <a:r>
              <a:rPr lang="pt-BR" dirty="0"/>
              <a:t>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essa área é a área oficial de renderização.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Tudo desenhável precisa ficar aqui</a:t>
            </a:r>
          </a:p>
          <a:p>
            <a:pPr>
              <a:buNone/>
            </a:pPr>
            <a:r>
              <a:rPr lang="pt-BR" dirty="0"/>
              <a:t>Exemplo: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DrawText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DrawRectangle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DrawTexture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DrawCircle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65E6102-61A6-D96A-1077-4E13219228B5}"/>
              </a:ext>
            </a:extLst>
          </p:cNvPr>
          <p:cNvSpPr txBox="1"/>
          <p:nvPr/>
        </p:nvSpPr>
        <p:spPr>
          <a:xfrm>
            <a:off x="5712374" y="2645569"/>
            <a:ext cx="64796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acontece internamente?</a:t>
            </a:r>
          </a:p>
          <a:p>
            <a:pPr>
              <a:buNone/>
            </a:pPr>
            <a:r>
              <a:rPr lang="pt-BR" dirty="0"/>
              <a:t>A CPU envia comandos: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desenhe texto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posição x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posição y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cor</a:t>
            </a:r>
          </a:p>
          <a:p>
            <a:pPr>
              <a:buNone/>
            </a:pPr>
            <a:r>
              <a:rPr lang="pt-BR" dirty="0"/>
              <a:t>para GPU.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Sim.</a:t>
            </a:r>
          </a:p>
          <a:p>
            <a:pPr>
              <a:buNone/>
            </a:pPr>
            <a:r>
              <a:rPr lang="pt-BR" dirty="0"/>
              <a:t>Fora do </a:t>
            </a:r>
            <a:r>
              <a:rPr lang="pt-BR" dirty="0" err="1"/>
              <a:t>BeginDrawing</a:t>
            </a:r>
            <a:r>
              <a:rPr lang="pt-BR" dirty="0"/>
              <a:t>/</a:t>
            </a:r>
            <a:r>
              <a:rPr lang="pt-BR" dirty="0" err="1"/>
              <a:t>EndDrawing</a:t>
            </a:r>
            <a:r>
              <a:rPr lang="pt-B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frame não está ativo.</a:t>
            </a:r>
          </a:p>
        </p:txBody>
      </p:sp>
    </p:spTree>
    <p:extLst>
      <p:ext uri="{BB962C8B-B14F-4D97-AF65-F5344CB8AC3E}">
        <p14:creationId xmlns:p14="http://schemas.microsoft.com/office/powerpoint/2010/main" val="49147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AA00-00D5-37E1-8CA3-6A0E7549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0CFDC-9D85-D109-0FA2-7C36A37E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62647D-67A6-0ED4-64E0-77E66F0D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9492A24-0C32-3BC7-0450-4F7F7047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DB3CF0-E34C-D1E9-73AF-11C200308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8641E7-02DC-8301-5884-51E56336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F0D9B9-1D1A-4FDC-DE93-684FF209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8A62FCF4-D5A5-3D38-7DA7-DF9C0282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2D00739-8323-26BA-CEB8-888F9C4728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2E84864-413D-225F-DE3A-2FBCCC73D6A3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48EF23F-71AB-6B19-4E07-C3EB8C890B3B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C754D4-5DFD-DC0D-26C9-E1167A0E55DE}"/>
              </a:ext>
            </a:extLst>
          </p:cNvPr>
          <p:cNvSpPr txBox="1"/>
          <p:nvPr/>
        </p:nvSpPr>
        <p:spPr>
          <a:xfrm>
            <a:off x="4038600" y="1592372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7. </a:t>
            </a:r>
            <a:r>
              <a:rPr lang="pt-BR" b="1" dirty="0" err="1">
                <a:highlight>
                  <a:srgbClr val="FFFF00"/>
                </a:highlight>
              </a:rPr>
              <a:t>DrawText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DrawText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(...)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651A989-7AEF-D0B8-A94F-2CE14F89B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858" y="2266782"/>
            <a:ext cx="6870542" cy="3496012"/>
          </a:xfrm>
          <a:prstGeom prst="rect">
            <a:avLst/>
          </a:prstGeom>
        </p:spPr>
      </p:pic>
      <p:pic>
        <p:nvPicPr>
          <p:cNvPr id="16" name="Imagem 15" descr="Introdução a codificação – adicionar elementos gráficos - Gideros Engine">
            <a:extLst>
              <a:ext uri="{FF2B5EF4-FFF2-40B4-BE49-F238E27FC236}">
                <a16:creationId xmlns:a16="http://schemas.microsoft.com/office/drawing/2014/main" id="{267D5A20-2A3D-86D7-1384-4A94E360A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3895" y="2722562"/>
            <a:ext cx="28289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3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59EF-3160-D547-5C84-89CA8D95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BF947-7EB8-0B47-45A6-C882CB22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A9047B-5E4D-1FB5-A2A4-8B2E0EF4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CA88D0A-DA93-4309-9D5E-D28C6C28F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7B22418-9AB6-17E7-BD7F-D502FF7C0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257142-F544-1567-4FBA-25689C86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1C9631-4C37-0D34-3764-B3824BBE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6A36FFC-0910-62B3-7FCE-EA1DF08E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07AB31B-BA09-E896-20CD-34E765E620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C3F66F4-2079-AC8B-4957-B224D91740B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40E59F-9E17-F716-38A1-6F13BD5F8338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6D964B6-48D2-D8D2-AB64-5BDD8CFF6204}"/>
              </a:ext>
            </a:extLst>
          </p:cNvPr>
          <p:cNvSpPr txBox="1"/>
          <p:nvPr/>
        </p:nvSpPr>
        <p:spPr>
          <a:xfrm>
            <a:off x="3870434" y="1592372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8. </a:t>
            </a:r>
            <a:r>
              <a:rPr lang="pt-BR" b="1" dirty="0" err="1">
                <a:highlight>
                  <a:srgbClr val="FFFF00"/>
                </a:highlight>
              </a:rPr>
              <a:t>EndDrawing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EndDrawing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CE2A6B2-33C2-15DB-66B0-07AD47235667}"/>
              </a:ext>
            </a:extLst>
          </p:cNvPr>
          <p:cNvSpPr txBox="1"/>
          <p:nvPr/>
        </p:nvSpPr>
        <p:spPr>
          <a:xfrm>
            <a:off x="1515010" y="2633642"/>
            <a:ext cx="411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vem no final?</a:t>
            </a:r>
          </a:p>
          <a:p>
            <a:pPr>
              <a:buNone/>
            </a:pPr>
            <a:r>
              <a:rPr lang="pt-BR" dirty="0"/>
              <a:t>Porque ele FINALIZA o frame.</a:t>
            </a:r>
          </a:p>
          <a:p>
            <a:pPr>
              <a:buNone/>
            </a:pPr>
            <a:r>
              <a:rPr lang="pt-BR" dirty="0"/>
              <a:t>Ele fala: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“GPU, pode mostrar o frame”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O que acontece internamente?</a:t>
            </a:r>
          </a:p>
          <a:p>
            <a:pPr>
              <a:buNone/>
            </a:pPr>
            <a:r>
              <a:rPr lang="pt-BR" dirty="0"/>
              <a:t>Normalmente: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troca buffers (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buffering</a:t>
            </a:r>
            <a:r>
              <a:rPr lang="pt-BR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front buffer ↔ </a:t>
            </a:r>
            <a:r>
              <a:rPr lang="pt-BR" dirty="0" err="1"/>
              <a:t>back</a:t>
            </a:r>
            <a:r>
              <a:rPr lang="pt-BR" dirty="0"/>
              <a:t> buffer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E14D0D8-9DCF-7334-2747-3A62B8B01E8C}"/>
              </a:ext>
            </a:extLst>
          </p:cNvPr>
          <p:cNvSpPr txBox="1"/>
          <p:nvPr/>
        </p:nvSpPr>
        <p:spPr>
          <a:xfrm>
            <a:off x="6515855" y="1592372"/>
            <a:ext cx="38877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Conceito importantíssimo</a:t>
            </a:r>
          </a:p>
          <a:p>
            <a:pPr>
              <a:buNone/>
            </a:pPr>
            <a:r>
              <a:rPr lang="pt-BR" b="1" dirty="0"/>
              <a:t>Double </a:t>
            </a:r>
            <a:r>
              <a:rPr lang="pt-BR" b="1" dirty="0" err="1"/>
              <a:t>Buffering</a:t>
            </a:r>
            <a:endParaRPr lang="pt-BR" b="1" dirty="0"/>
          </a:p>
          <a:p>
            <a:pPr>
              <a:buNone/>
            </a:pPr>
            <a:r>
              <a:rPr lang="pt-BR" dirty="0"/>
              <a:t>A GPU desenha: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escondido no </a:t>
            </a:r>
            <a:r>
              <a:rPr lang="pt-BR" dirty="0" err="1"/>
              <a:t>backbuffer</a:t>
            </a:r>
            <a:r>
              <a:rPr lang="pt-BR" dirty="0"/>
              <a:t> </a:t>
            </a:r>
          </a:p>
          <a:p>
            <a:pPr>
              <a:buNone/>
            </a:pPr>
            <a:r>
              <a:rPr lang="pt-BR" dirty="0"/>
              <a:t>Depois: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mostra tudo pronto de uma vez. </a:t>
            </a:r>
          </a:p>
          <a:p>
            <a:pPr>
              <a:buNone/>
            </a:pPr>
            <a:r>
              <a:rPr lang="pt-BR" dirty="0"/>
              <a:t>Isso evita </a:t>
            </a:r>
            <a:r>
              <a:rPr lang="pt-BR" dirty="0" err="1"/>
              <a:t>flickering</a:t>
            </a:r>
            <a:r>
              <a:rPr lang="pt-BR" dirty="0"/>
              <a:t>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Sim.</a:t>
            </a:r>
          </a:p>
          <a:p>
            <a:pPr>
              <a:buNone/>
            </a:pPr>
            <a:r>
              <a:rPr lang="pt-BR" dirty="0"/>
              <a:t>Sem ele: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frame nunca aparece.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8D648AC-BBDD-4FED-2D58-B47AD87D153B}"/>
              </a:ext>
            </a:extLst>
          </p:cNvPr>
          <p:cNvSpPr txBox="1"/>
          <p:nvPr/>
        </p:nvSpPr>
        <p:spPr>
          <a:xfrm>
            <a:off x="5219907" y="5422089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Flickering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0" i="0" dirty="0">
                <a:solidFill>
                  <a:srgbClr val="FF0000"/>
                </a:solidFill>
                <a:effectLst/>
                <a:latin typeface="Google Sans"/>
              </a:rPr>
              <a:t>em jogos </a:t>
            </a:r>
            <a:r>
              <a:rPr lang="pt-BR" dirty="0">
                <a:solidFill>
                  <a:srgbClr val="FF0000"/>
                </a:solidFill>
              </a:rPr>
              <a:t>é um problema visual onde a tela, ou objetos específicos nela, piscam, tremeluzem ou oscilam rapidamente</a:t>
            </a:r>
          </a:p>
        </p:txBody>
      </p:sp>
    </p:spTree>
    <p:extLst>
      <p:ext uri="{BB962C8B-B14F-4D97-AF65-F5344CB8AC3E}">
        <p14:creationId xmlns:p14="http://schemas.microsoft.com/office/powerpoint/2010/main" val="3322932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7689-96AE-E9A8-2F5D-10BA5796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BA2EA-1466-187A-B9FB-2B2B1809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F5C194-F39D-4BE6-FA29-A2CBFD579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BE23AF5-EA06-26BD-4346-F995C84EA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EBA6739-FDF0-316B-EC3D-C39850BAA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0822D6-2993-5330-01E5-389B8354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C9CB41-DFAB-BD51-CA7D-B3C984AD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DACA78A2-92DA-08B8-CA6E-95A28A13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CD7A9B4-D68E-B169-07E7-EE148DFC5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4BC5238-FA41-E355-4BDE-AB8942541220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0423E4-EA00-5A40-DDC7-2EA8F5CBEEC2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7C106A-1D67-7DE9-6552-C78106D7CE1D}"/>
              </a:ext>
            </a:extLst>
          </p:cNvPr>
          <p:cNvSpPr txBox="1"/>
          <p:nvPr/>
        </p:nvSpPr>
        <p:spPr>
          <a:xfrm>
            <a:off x="4212784" y="1448485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highlight>
                  <a:srgbClr val="FFFF00"/>
                </a:highlight>
              </a:rPr>
              <a:t>9. </a:t>
            </a:r>
            <a:r>
              <a:rPr lang="pt-BR" b="1" dirty="0" err="1">
                <a:highlight>
                  <a:srgbClr val="FFFF00"/>
                </a:highlight>
              </a:rPr>
              <a:t>CloseWindow</a:t>
            </a:r>
            <a:r>
              <a:rPr lang="pt-BR" b="1" dirty="0">
                <a:highlight>
                  <a:srgbClr val="FFFF00"/>
                </a:highlight>
              </a:rPr>
              <a:t>()</a:t>
            </a:r>
          </a:p>
          <a:p>
            <a:pPr rtl="0">
              <a:buNone/>
            </a:pPr>
            <a:r>
              <a:rPr lang="pt-BR" dirty="0" err="1">
                <a:highlight>
                  <a:srgbClr val="FFFF00"/>
                </a:highlight>
                <a:latin typeface="Courier New" panose="02070309020205020404" pitchFamily="49" charset="0"/>
              </a:rPr>
              <a:t>CloseWindow</a:t>
            </a: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</a:rPr>
              <a:t>();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4DAFB77-0CBB-3A48-D35F-133D54E8ABAB}"/>
              </a:ext>
            </a:extLst>
          </p:cNvPr>
          <p:cNvSpPr txBox="1"/>
          <p:nvPr/>
        </p:nvSpPr>
        <p:spPr>
          <a:xfrm>
            <a:off x="1796883" y="2032059"/>
            <a:ext cx="6479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Por que fica no final?</a:t>
            </a:r>
          </a:p>
          <a:p>
            <a:pPr>
              <a:buNone/>
            </a:pPr>
            <a:r>
              <a:rPr lang="pt-BR" dirty="0"/>
              <a:t>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primeiro o jogo termina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depois os recursos são liberados. 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O que acontece internamente?</a:t>
            </a:r>
          </a:p>
          <a:p>
            <a:pPr>
              <a:buNone/>
            </a:pPr>
            <a:r>
              <a:rPr lang="pt-BR" dirty="0"/>
              <a:t>Ele: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destrói janela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libera OpenGL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libera memória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encerra contexto gráfico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É obrigatório?</a:t>
            </a:r>
          </a:p>
          <a:p>
            <a:pPr>
              <a:buNone/>
            </a:pPr>
            <a:r>
              <a:rPr lang="pt-BR" dirty="0"/>
              <a:t>Tecnicamente o SO limparia depois.</a:t>
            </a:r>
          </a:p>
          <a:p>
            <a:pPr>
              <a:buNone/>
            </a:pPr>
            <a:r>
              <a:rPr lang="pt-BR" dirty="0"/>
              <a:t>Mas:</a:t>
            </a:r>
            <a:br>
              <a:rPr lang="pt-BR" dirty="0"/>
            </a:br>
            <a:r>
              <a:rPr lang="pt-BR" dirty="0"/>
              <a:t>profissionalmente é obrigatório.</a:t>
            </a:r>
          </a:p>
        </p:txBody>
      </p:sp>
    </p:spTree>
    <p:extLst>
      <p:ext uri="{BB962C8B-B14F-4D97-AF65-F5344CB8AC3E}">
        <p14:creationId xmlns:p14="http://schemas.microsoft.com/office/powerpoint/2010/main" val="2674029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A680-D47E-3201-9197-C2FAF96C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D4DAA-3E65-0BD6-F7ED-BA9BAC11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9C87AC-F369-984B-C436-B466FE32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CA9D42B-6274-24D9-E509-86F3B915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D628AE4-4B53-9ED2-B169-A902A75B8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57689-C55C-8588-7788-D423E1546F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546-6470-E170-6A41-5F457AAA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422F3E4-B94D-0BAD-0197-D74A8040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00E6A9D-B1D1-CD43-5594-70CB3CB23C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6CF6C0F-E629-CEDD-6FD9-4FD891BE3D7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509AE7-8408-E31C-BC01-D2F73B6C45C6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C77F80-5E09-312C-65CC-483E41E03B50}"/>
              </a:ext>
            </a:extLst>
          </p:cNvPr>
          <p:cNvSpPr txBox="1"/>
          <p:nvPr/>
        </p:nvSpPr>
        <p:spPr>
          <a:xfrm>
            <a:off x="1605516" y="1598895"/>
            <a:ext cx="647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Fluxo REAL interno do nosso primeiro jogo: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D28798-AA97-B182-0C96-A082AC314C60}"/>
              </a:ext>
            </a:extLst>
          </p:cNvPr>
          <p:cNvSpPr txBox="1"/>
          <p:nvPr/>
        </p:nvSpPr>
        <p:spPr>
          <a:xfrm>
            <a:off x="7221817" y="1389777"/>
            <a:ext cx="340752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CPU inicia programa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 err="1"/>
              <a:t>Raylib</a:t>
            </a:r>
            <a:r>
              <a:rPr lang="pt-BR" sz="1400" dirty="0"/>
              <a:t> cria janela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OpenGL inicializa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GPU cria buffers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Loop começa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 err="1"/>
              <a:t>BeginDrawing</a:t>
            </a:r>
            <a:r>
              <a:rPr lang="pt-BR" sz="1400" dirty="0"/>
              <a:t>()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Limpa tela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Envia comandos gráficos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GPU renderiza frame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 err="1"/>
              <a:t>EndDrawing</a:t>
            </a:r>
            <a:r>
              <a:rPr lang="pt-BR" sz="1400" dirty="0"/>
              <a:t>()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Monitor mostra frame</a:t>
            </a:r>
            <a:br>
              <a:rPr lang="pt-BR" sz="1400" dirty="0"/>
            </a:br>
            <a:r>
              <a:rPr lang="pt-BR" sz="1400" dirty="0"/>
              <a:t>↓</a:t>
            </a:r>
            <a:br>
              <a:rPr lang="pt-BR" sz="1400" dirty="0"/>
            </a:br>
            <a:r>
              <a:rPr lang="pt-BR" sz="1400" dirty="0"/>
              <a:t>Repete 60 vezes por segundo</a:t>
            </a:r>
          </a:p>
        </p:txBody>
      </p:sp>
    </p:spTree>
    <p:extLst>
      <p:ext uri="{BB962C8B-B14F-4D97-AF65-F5344CB8AC3E}">
        <p14:creationId xmlns:p14="http://schemas.microsoft.com/office/powerpoint/2010/main" val="691878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49F1-BF1A-B101-EBD1-A19D965E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738DD-40BE-4BD8-0A77-7CD64C6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89B975-B4B5-3A51-43BC-88553FDCA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41384DB-6992-1D44-7ED3-C5BEAF79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EDFD663-5C42-EC53-052E-751861DFB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00261-E808-07DF-B723-24692B1C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08FC0E-6F8E-40F7-2041-E0F9D83B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B6C03BE-129A-F5A8-1203-A053CF5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7EED25C-83BE-4912-1B51-5C7EA2F26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92B412-5567-9D07-3A22-4F578D068B3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8A37DA7-C2EB-60A8-EC1B-A5751D0BBC9F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569116-564A-7270-7358-3F9CD06914EC}"/>
              </a:ext>
            </a:extLst>
          </p:cNvPr>
          <p:cNvSpPr txBox="1"/>
          <p:nvPr/>
        </p:nvSpPr>
        <p:spPr>
          <a:xfrm>
            <a:off x="1533751" y="1641530"/>
            <a:ext cx="647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Analogia simples</a:t>
            </a:r>
          </a:p>
          <a:p>
            <a:pPr>
              <a:buNone/>
            </a:pPr>
            <a:r>
              <a:rPr lang="pt-BR" dirty="0"/>
              <a:t>Imagine uma lousa: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5D64A3B-966D-7012-207D-DD26A8F06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033" y="3070315"/>
            <a:ext cx="6055646" cy="19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4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D9B9-F395-EBDD-D91A-9A2BDDDC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7B36C-4744-5A01-3FF8-8BDA393D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0A7F22-98A8-5046-87A3-DF4B5FECF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F641107-FD55-2F42-5CF9-31E69408F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0852A94-F4F6-4D6B-3028-E8AF86285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528968-5DD8-86BB-082B-5FBAAC80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145D22-EE48-195F-DF85-1D01DBC9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5D362C45-437C-B4B4-96B4-E5B9BC45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72A2636-8C27-F591-DCDC-D5CCE9991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DE77A04-E863-3CF9-9B9F-8376D599B0AE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1FB362-D3F0-58B4-7F93-05D3AC5B10FD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0A8657-A088-D738-F127-FB6804B8EBDC}"/>
              </a:ext>
            </a:extLst>
          </p:cNvPr>
          <p:cNvSpPr txBox="1"/>
          <p:nvPr/>
        </p:nvSpPr>
        <p:spPr>
          <a:xfrm>
            <a:off x="2856187" y="1746666"/>
            <a:ext cx="6479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b="1" dirty="0"/>
              <a:t>Conceito mais importante de todos</a:t>
            </a:r>
          </a:p>
          <a:p>
            <a:pPr algn="ctr">
              <a:buNone/>
            </a:pPr>
            <a:endParaRPr lang="pt-BR" b="1" dirty="0"/>
          </a:p>
          <a:p>
            <a:pPr algn="ctr">
              <a:buNone/>
            </a:pPr>
            <a:r>
              <a:rPr lang="pt-BR" b="1" dirty="0"/>
              <a:t>O jogo funciona como um ciclo infinito</a:t>
            </a:r>
            <a:r>
              <a:rPr lang="pt-BR" dirty="0"/>
              <a:t>:</a:t>
            </a:r>
          </a:p>
          <a:p>
            <a:pPr algn="ctr">
              <a:buNone/>
            </a:pPr>
            <a:endParaRPr lang="pt-BR" dirty="0"/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ATUALIZAR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DESENHAR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MOSTRAR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REPETIR</a:t>
            </a:r>
          </a:p>
          <a:p>
            <a:pPr algn="ctr"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 algn="ctr">
              <a:buNone/>
            </a:pPr>
            <a:r>
              <a:rPr lang="pt-BR" b="1" dirty="0">
                <a:highlight>
                  <a:srgbClr val="FFFF00"/>
                </a:highlight>
              </a:rPr>
              <a:t>Isso é literalmente: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dirty="0"/>
              <a:t>game loop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dirty="0"/>
              <a:t>render loop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dirty="0"/>
              <a:t>coração de toda </a:t>
            </a:r>
            <a:r>
              <a:rPr lang="pt-BR" dirty="0" err="1"/>
              <a:t>engine</a:t>
            </a:r>
            <a:r>
              <a:rPr lang="pt-BR" dirty="0"/>
              <a:t> de jogos.</a:t>
            </a:r>
          </a:p>
        </p:txBody>
      </p:sp>
    </p:spTree>
    <p:extLst>
      <p:ext uri="{BB962C8B-B14F-4D97-AF65-F5344CB8AC3E}">
        <p14:creationId xmlns:p14="http://schemas.microsoft.com/office/powerpoint/2010/main" val="4164808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9617</TotalTime>
  <Words>2095</Words>
  <Application>Microsoft Office PowerPoint</Application>
  <PresentationFormat>Widescreen</PresentationFormat>
  <Paragraphs>460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Google Sans</vt:lpstr>
      <vt:lpstr>Tema do Office</vt:lpstr>
      <vt:lpstr>Algoritmos  e Lógica de Programação - ALP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Compiladores</dc:title>
  <dc:creator>Miguel Enrique Parra Muñoz</dc:creator>
  <cp:lastModifiedBy>Murillo edson de carvalho souza</cp:lastModifiedBy>
  <cp:revision>127</cp:revision>
  <dcterms:created xsi:type="dcterms:W3CDTF">2024-08-02T14:46:28Z</dcterms:created>
  <dcterms:modified xsi:type="dcterms:W3CDTF">2026-05-12T11:48:26Z</dcterms:modified>
</cp:coreProperties>
</file>