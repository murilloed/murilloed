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56" r:id="rId2"/>
    <p:sldId id="1088" r:id="rId3"/>
    <p:sldId id="1089" r:id="rId4"/>
    <p:sldId id="1090" r:id="rId5"/>
    <p:sldId id="1091" r:id="rId6"/>
    <p:sldId id="1093" r:id="rId7"/>
    <p:sldId id="1092" r:id="rId8"/>
    <p:sldId id="1096" r:id="rId9"/>
    <p:sldId id="1095" r:id="rId10"/>
    <p:sldId id="1094" r:id="rId11"/>
    <p:sldId id="1097" r:id="rId12"/>
    <p:sldId id="1101" r:id="rId13"/>
    <p:sldId id="1102" r:id="rId14"/>
    <p:sldId id="1103" r:id="rId15"/>
    <p:sldId id="1104" r:id="rId16"/>
    <p:sldId id="1105" r:id="rId17"/>
    <p:sldId id="1106" r:id="rId18"/>
    <p:sldId id="1107" r:id="rId19"/>
    <p:sldId id="1108" r:id="rId20"/>
    <p:sldId id="1109" r:id="rId21"/>
    <p:sldId id="1110" r:id="rId22"/>
    <p:sldId id="1098" r:id="rId23"/>
    <p:sldId id="1099" r:id="rId24"/>
    <p:sldId id="1100" r:id="rId25"/>
    <p:sldId id="1113" r:id="rId26"/>
    <p:sldId id="1112" r:id="rId27"/>
    <p:sldId id="1111" r:id="rId28"/>
    <p:sldId id="1114" r:id="rId29"/>
    <p:sldId id="1115" r:id="rId30"/>
    <p:sldId id="1116" r:id="rId31"/>
    <p:sldId id="1117" r:id="rId3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9DA41287-E34C-4EAD-9F31-03879271219D}">
          <p14:sldIdLst>
            <p14:sldId id="256"/>
            <p14:sldId id="1088"/>
            <p14:sldId id="1089"/>
            <p14:sldId id="1090"/>
            <p14:sldId id="1091"/>
            <p14:sldId id="1093"/>
            <p14:sldId id="1092"/>
            <p14:sldId id="1096"/>
            <p14:sldId id="1095"/>
            <p14:sldId id="1094"/>
            <p14:sldId id="1097"/>
            <p14:sldId id="1101"/>
            <p14:sldId id="1102"/>
            <p14:sldId id="1103"/>
            <p14:sldId id="1104"/>
            <p14:sldId id="1105"/>
            <p14:sldId id="1106"/>
            <p14:sldId id="1107"/>
            <p14:sldId id="1108"/>
            <p14:sldId id="1109"/>
            <p14:sldId id="1110"/>
            <p14:sldId id="1098"/>
            <p14:sldId id="1099"/>
            <p14:sldId id="1100"/>
            <p14:sldId id="1113"/>
            <p14:sldId id="1112"/>
            <p14:sldId id="1111"/>
            <p14:sldId id="1114"/>
            <p14:sldId id="1115"/>
            <p14:sldId id="1116"/>
            <p14:sldId id="11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1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B942D-084E-4554-8B8C-61A2D2BC9A70}" type="datetimeFigureOut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D8B25-B662-4CD0-A7C4-7230F74EE1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37195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DFA554-F48D-7D77-6D02-F1184EFF4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7FB0A2-3035-BE36-ECD9-1D800DAF9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F1A163-4E8D-72D4-9674-6C601C7C3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125F-CEC0-439A-8435-32F1BF12E9D1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EC00DE-4BA2-79BB-36CE-1A77EE57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073A92-055E-F94D-F701-96C62F3C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200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6DFC6-DCAC-0EAB-4B94-E8454157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0946F7-D216-FF83-7E93-8D401BD63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02F105-A896-C72D-8568-391078195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C4876-F512-4052-98F9-A3FA0C6BBB97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E42F00-2590-0E67-755B-C432E8877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0BB308-6352-F45F-491E-B4EC8B20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051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48F46-4E95-E34C-FE61-144AF5FF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A2321F9-518E-CE3F-0956-E1CE9F07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6CBB34-5F11-E3DF-7B49-8CF06465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FDDDD-27F5-4A2E-9CB7-5B239CF78E10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2E3E39-2C49-EF95-B3D7-110768AF4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85895C-2617-6A93-5857-8E16932A5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60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395A0-9295-014A-7CCF-247BB0340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7CFF2-FA03-A5F2-C65D-BB15A0B718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1AE87C-2535-D2F6-0DE5-9B74E8939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BA6BCA3-755B-DAC6-649A-B8900D36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1627-A33B-44E8-AA14-8E0EA7CC5AC2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4A13D6-9379-D08F-34B5-0B4C46A2F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D1AA81-E4AA-34EE-D8B1-D78BDF241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782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362320-1810-E7E8-871B-4472721A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415C95-1AA3-FBC1-8EF6-0152263C0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51FA66-81FF-23A5-1AF7-F366F012D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56FA903-7AF9-5527-492A-3BAB223B50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5A369CD-650D-0265-E788-C7DF1D958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1E9870-9DBC-B54D-495F-DAD37BAE9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FEFA6-DAA9-4144-84CF-29B4D9DAB0AD}" type="datetime1">
              <a:rPr lang="pt-BR" smtClean="0"/>
              <a:t>12/05/2026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4D68076-5B9E-21FA-F45A-43991A0C2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AC82D7C-979C-CE6F-8BBE-65A5152CD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143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F4AADB-33D5-69A4-4A35-5B3E0F875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5FF826-B6D3-CB75-845D-BC8F3504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D6C66-2F19-4B3B-AA66-2987AC434911}" type="datetime1">
              <a:rPr lang="pt-BR" smtClean="0"/>
              <a:t>12/05/2026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21E5FE4-7061-800A-D3E2-E50E29416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C0A7778-D533-5BAE-7FC8-11F81C508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7461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133F41-1410-780D-D132-9B36F6CAA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0777-F8F2-4BE0-BC84-B7F32E0E96C4}" type="datetime1">
              <a:rPr lang="pt-BR" smtClean="0"/>
              <a:t>12/05/2026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4BFF41-BF6F-0FEE-5266-FFDADACEC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1BFFA60-98F2-3EED-D273-72057F017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8177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0DF242-C5BA-AFB4-714A-F5E50167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71152CB-06B9-0EE9-10E8-9E8BC8803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A115926-E24D-DC6B-52E3-1D5A3A600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BA052E8-21A5-EBF8-58C4-B7A5237EB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6C10F-A43A-4663-82BB-781D232A9B9F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C71B38-7F49-788A-5D04-AB1B4A8F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DF12F4-3AFE-6218-27FF-7F38A2484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026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0F0B2-2492-75D1-2944-EA4E9A1F7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3290A29-7088-20C5-B9AB-4B7568D47C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491081-4A05-6B67-5EF5-64D105583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31F831-E45A-989B-C717-BAD0DF3A1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41990-A1B9-4E4E-92F1-28FACA1F0F59}" type="datetime1">
              <a:rPr lang="pt-BR" smtClean="0"/>
              <a:t>12/05/2026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C086F2-BF71-A6DF-F47F-26BD472B9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857A6A-AB4E-02BF-5782-5C62C1BAF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675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7D07D-5161-1D10-7046-78D50133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1617F0-4443-3073-C16B-480597515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69D01B-D62F-DF4A-95A9-E4CE19B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6F3A2-B589-4AA7-AA38-BFEAE2AA2BC4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4D23F3-4064-EFB6-059D-AC9E12A1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619E7AE-E8CF-BC8B-8363-3F2CE06AB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63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10506AD-1505-DDEF-51EE-790842CB3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406B56-1D5A-E81D-09D0-D81E51402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97D3E0-0C49-5A39-A019-73F95D3E8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94B9BD-F8E5-4D61-9987-251B22D260E5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08E5617-4B36-A89E-20AE-4DD12929C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AC61CA-0ED3-BA34-B1B9-D15BA8B48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26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101FEE6-2958-AE3F-0B7B-E1627544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D1726-7085-88CD-62E1-1CF03A98C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31F67-EFE4-6419-5BC4-C69D988CD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8813F-9701-42F1-92CC-731AB773862F}" type="datetime1">
              <a:rPr lang="pt-BR" smtClean="0"/>
              <a:t>12/05/2026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5A9B14-FC8B-359A-029E-1EBF89842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Compiladores- Prof. Dr. Miguel Enrique Parra Muñoz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23BF0B-931A-AB05-2134-6B3E149DCE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1B195F-5D52-4885-9C09-71AF69D0949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8018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82BC8E-3ECC-3345-1FCA-139C317BF7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pt-BR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Algoritmos </a:t>
            </a:r>
            <a:br>
              <a:rPr lang="pt-BR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pt-BR" sz="6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 Lógica de Programação - ALP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080F11-4A7A-CE53-2471-263C6F0DC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pt-BR" dirty="0"/>
              <a:t>Prof. Dr. Murillo Carvalho</a:t>
            </a:r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34641522-8A6B-7A07-F09A-16684FECC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5400000">
            <a:off x="-1828800" y="1984248"/>
            <a:ext cx="4114800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pt-BR" sz="1000" dirty="0">
                <a:solidFill>
                  <a:srgbClr val="FFFFFF"/>
                </a:solidFill>
              </a:rPr>
              <a:t>Compiladores- Prof. Dr. Murillo Carvalho</a:t>
            </a:r>
          </a:p>
        </p:txBody>
      </p:sp>
      <p:sp>
        <p:nvSpPr>
          <p:cNvPr id="8" name="Espaço Reservado para Data 7">
            <a:extLst>
              <a:ext uri="{FF2B5EF4-FFF2-40B4-BE49-F238E27FC236}">
                <a16:creationId xmlns:a16="http://schemas.microsoft.com/office/drawing/2014/main" id="{D5DDEFDD-6271-6501-9CF3-0D2678BEC0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70264" y="6446837"/>
            <a:ext cx="274320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8C9477D5-0EDA-4B06-BF89-1CA39DCC6595}" type="datetime1">
              <a:rPr lang="pt-BR" sz="11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12/05/2026</a:t>
            </a:fld>
            <a:endParaRPr lang="pt-B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185FC10-17BC-7148-3672-39E2867E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46837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91B195F-5D52-4885-9C09-71AF69D09491}" type="slidenum">
              <a:rPr lang="pt-BR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pt-BR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Imagem 4" descr="Ícone&#10;&#10;Descrição gerada automaticamente">
            <a:extLst>
              <a:ext uri="{FF2B5EF4-FFF2-40B4-BE49-F238E27FC236}">
                <a16:creationId xmlns:a16="http://schemas.microsoft.com/office/drawing/2014/main" id="{72EB2EDA-5A92-F117-8833-A60ACBEE0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72175"/>
            <a:ext cx="1666875" cy="88582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103D858-430E-F62F-345D-6F02A1DCD3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205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5A07-98E3-BEF5-CD78-E1C9B8F8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43B5E0-5647-268D-E2E3-99C8DD9DC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541172-19A6-AD01-6EE8-9732F6AF8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BEEAD0-72C3-72BE-E8FF-679B5C6DB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65FC4B0-AF63-4843-A009-097760B36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EBCE7B-024D-8ECE-CF63-859587E0DE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590DC9-516B-09A8-EC9D-70375249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9794185-EF4D-503D-716F-D9F64F85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946A807-6D68-42C0-D6AE-24ED92D2BC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A9E226C-4C66-E6ED-43E5-BF1E746D8AA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717CB4C-3B09-0D24-C080-7605039BEEE3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F07C3FF-1E2D-5299-8F10-66E7244D0CBF}"/>
              </a:ext>
            </a:extLst>
          </p:cNvPr>
          <p:cNvSpPr txBox="1"/>
          <p:nvPr/>
        </p:nvSpPr>
        <p:spPr>
          <a:xfrm>
            <a:off x="2778120" y="1586398"/>
            <a:ext cx="647962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AULA: Introdução ao </a:t>
            </a:r>
            <a:r>
              <a:rPr lang="pt-BR" sz="3200" b="1" dirty="0" err="1"/>
              <a:t>Raylib</a:t>
            </a:r>
            <a:r>
              <a:rPr lang="pt-BR" sz="3200" b="1" dirty="0"/>
              <a:t> </a:t>
            </a:r>
            <a:r>
              <a:rPr lang="pt-BR" sz="3200" b="1" dirty="0">
                <a:solidFill>
                  <a:srgbClr val="FF0000"/>
                </a:solidFill>
              </a:rPr>
              <a:t>Programação de Jogos em C</a:t>
            </a:r>
          </a:p>
          <a:p>
            <a:pPr algn="ctr"/>
            <a:r>
              <a:rPr lang="pt-BR" sz="3200" b="1" dirty="0"/>
              <a:t>mini game </a:t>
            </a:r>
            <a:r>
              <a:rPr lang="pt-BR" sz="3200" b="1" dirty="0" err="1"/>
              <a:t>engine</a:t>
            </a:r>
            <a:r>
              <a:rPr lang="pt-BR" sz="3200" b="1" dirty="0"/>
              <a:t> 2D</a:t>
            </a:r>
          </a:p>
          <a:p>
            <a:pPr algn="ctr"/>
            <a:r>
              <a:rPr lang="pt-BR" sz="3200" b="1" dirty="0">
                <a:highlight>
                  <a:srgbClr val="FFFF00"/>
                </a:highlight>
              </a:rPr>
              <a:t>EXERCÍCIOS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FCE8596-675C-AED0-795C-DE2959561F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948" y="3673307"/>
            <a:ext cx="3560198" cy="2142467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9A13E341-B6D2-08F7-B760-88E7CB467FEF}"/>
              </a:ext>
            </a:extLst>
          </p:cNvPr>
          <p:cNvSpPr txBox="1"/>
          <p:nvPr/>
        </p:nvSpPr>
        <p:spPr>
          <a:xfrm>
            <a:off x="4839460" y="5865296"/>
            <a:ext cx="60933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https://www.raylib.com/</a:t>
            </a:r>
          </a:p>
        </p:txBody>
      </p:sp>
    </p:spTree>
    <p:extLst>
      <p:ext uri="{BB962C8B-B14F-4D97-AF65-F5344CB8AC3E}">
        <p14:creationId xmlns:p14="http://schemas.microsoft.com/office/powerpoint/2010/main" val="103713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85CFA-8E79-A20E-0AB3-F5280C56A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4BB7F-5110-FD4E-C5DB-DA227377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C146794-4086-38E8-2D4C-34FDDC14A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91411B1-D7F2-AAE1-A79A-17E709B14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3CDF6FA-4E47-30A8-F4A9-B2B45DBE1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AC838-D87D-773A-1F08-EF53807809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21EB1B-17F6-DDE1-CC42-6BA4C990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ED5A6C4F-4E1B-18EF-77F6-D480FB85D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3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ECE61D8-1A92-790F-7A55-6D01481040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2DC40E-6610-F94B-3F5D-946E6904961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2ECFE05-53EB-F16D-48DB-996D65CD5C9E}"/>
              </a:ext>
            </a:extLst>
          </p:cNvPr>
          <p:cNvSpPr txBox="1"/>
          <p:nvPr/>
        </p:nvSpPr>
        <p:spPr>
          <a:xfrm>
            <a:off x="9910134" y="332184"/>
            <a:ext cx="30453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  <a:endParaRPr lang="pt-BR" sz="2400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147BC21-F9B7-9A8B-CF5E-8F8996E8E5F9}"/>
              </a:ext>
            </a:extLst>
          </p:cNvPr>
          <p:cNvSpPr txBox="1"/>
          <p:nvPr/>
        </p:nvSpPr>
        <p:spPr>
          <a:xfrm>
            <a:off x="838200" y="2588071"/>
            <a:ext cx="1031327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200" b="1" dirty="0"/>
              <a:t>Artefatos do projeto:</a:t>
            </a:r>
            <a:br>
              <a:rPr lang="pt-BR" sz="3200" b="1" dirty="0"/>
            </a:br>
            <a:r>
              <a:rPr lang="pt-BR" sz="3200" b="1" dirty="0">
                <a:solidFill>
                  <a:srgbClr val="FF0000"/>
                </a:solidFill>
              </a:rPr>
              <a:t>https://github.com/murilloed/raylib_alp</a:t>
            </a:r>
          </a:p>
        </p:txBody>
      </p:sp>
    </p:spTree>
    <p:extLst>
      <p:ext uri="{BB962C8B-B14F-4D97-AF65-F5344CB8AC3E}">
        <p14:creationId xmlns:p14="http://schemas.microsoft.com/office/powerpoint/2010/main" val="2917249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43450-AD79-218D-7844-222CB0AD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1C3091-ADBB-33F4-6C7F-84B937E6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C853CF0-CBEF-D20E-0EC1-0FA07990A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27F04415-7E4A-BCB7-213B-C35DBD418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87ED40F-0557-AEAA-7407-94AAFC0E5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E9F69-1AAE-4EFC-5C38-08025FFE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ABE7A97-D905-AE91-6C58-412FBC28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86869092-5B6A-5E8F-EE6B-B911EC2F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4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C73A14-53AC-0B9C-6E27-F40C9456E6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F9E8E2A-0A62-0E2E-E25D-D27417709A9A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077CB6E-B77A-73B4-F376-A6F970FB944E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31930D0-2A5D-2605-8BF8-0FC006B10943}"/>
              </a:ext>
            </a:extLst>
          </p:cNvPr>
          <p:cNvSpPr txBox="1"/>
          <p:nvPr/>
        </p:nvSpPr>
        <p:spPr>
          <a:xfrm>
            <a:off x="1662112" y="2072930"/>
            <a:ext cx="3493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Objetivo:</a:t>
            </a:r>
          </a:p>
          <a:p>
            <a:pPr>
              <a:buNone/>
            </a:pPr>
            <a:endParaRPr lang="pt-BR" b="1" dirty="0"/>
          </a:p>
          <a:p>
            <a:pPr>
              <a:buFont typeface="+mj-lt"/>
              <a:buAutoNum type="arabicPeriod"/>
            </a:pPr>
            <a:r>
              <a:rPr lang="pt-BR" dirty="0"/>
              <a:t>Janela básica </a:t>
            </a:r>
          </a:p>
          <a:p>
            <a:pPr>
              <a:buFont typeface="+mj-lt"/>
              <a:buAutoNum type="arabicPeriod"/>
            </a:pPr>
            <a:r>
              <a:rPr lang="pt-BR" dirty="0"/>
              <a:t>Desenho de formas </a:t>
            </a:r>
          </a:p>
          <a:p>
            <a:pPr>
              <a:buFont typeface="+mj-lt"/>
              <a:buAutoNum type="arabicPeriod"/>
            </a:pPr>
            <a:r>
              <a:rPr lang="pt-BR" dirty="0"/>
              <a:t>Movimento </a:t>
            </a:r>
          </a:p>
          <a:p>
            <a:pPr>
              <a:buFont typeface="+mj-lt"/>
              <a:buAutoNum type="arabicPeriod"/>
            </a:pPr>
            <a:r>
              <a:rPr lang="pt-BR" dirty="0"/>
              <a:t>FPS </a:t>
            </a:r>
          </a:p>
          <a:p>
            <a:pPr>
              <a:buFont typeface="+mj-lt"/>
              <a:buAutoNum type="arabicPeriod"/>
            </a:pPr>
            <a:r>
              <a:rPr lang="pt-BR" dirty="0"/>
              <a:t>Sprites/Texturas </a:t>
            </a:r>
          </a:p>
          <a:p>
            <a:pPr>
              <a:buFont typeface="+mj-lt"/>
              <a:buAutoNum type="arabicPeriod"/>
            </a:pPr>
            <a:r>
              <a:rPr lang="pt-BR" dirty="0"/>
              <a:t>Delta Time </a:t>
            </a:r>
          </a:p>
          <a:p>
            <a:pPr>
              <a:buFont typeface="+mj-lt"/>
              <a:buAutoNum type="arabicPeriod"/>
            </a:pPr>
            <a:r>
              <a:rPr lang="pt-BR" dirty="0"/>
              <a:t>Áudio </a:t>
            </a:r>
          </a:p>
          <a:p>
            <a:pPr>
              <a:buFont typeface="+mj-lt"/>
              <a:buAutoNum type="arabicPeriod"/>
            </a:pPr>
            <a:r>
              <a:rPr lang="pt-BR" dirty="0"/>
              <a:t>Integração final (joguinho) 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F3736FF-FA1F-9F03-5B66-F6FB8690B3F3}"/>
              </a:ext>
            </a:extLst>
          </p:cNvPr>
          <p:cNvSpPr txBox="1"/>
          <p:nvPr/>
        </p:nvSpPr>
        <p:spPr>
          <a:xfrm>
            <a:off x="6206359" y="3241766"/>
            <a:ext cx="4114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b="1" i="1" dirty="0"/>
              <a:t>Cada etapa tem um exercício incremental que você deve:</a:t>
            </a:r>
          </a:p>
          <a:p>
            <a:pPr algn="ctr">
              <a:buNone/>
            </a:pPr>
            <a:endParaRPr lang="pt-BR" b="1" i="1" dirty="0"/>
          </a:p>
          <a:p>
            <a:pPr algn="ctr">
              <a:buFont typeface="Arial" panose="020B0604020202020204" pitchFamily="34" charset="0"/>
              <a:buChar char="•"/>
            </a:pPr>
            <a:r>
              <a:rPr lang="pt-BR" i="1" dirty="0"/>
              <a:t>modificar o código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i="1" dirty="0"/>
              <a:t>testar hipóteses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i="1" dirty="0"/>
              <a:t>errar e corrigir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i="1" dirty="0"/>
              <a:t>consolidar o conceito da etapa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i="1" dirty="0"/>
              <a:t>preparar o cérebro para a próxima fase </a:t>
            </a:r>
          </a:p>
        </p:txBody>
      </p:sp>
    </p:spTree>
    <p:extLst>
      <p:ext uri="{BB962C8B-B14F-4D97-AF65-F5344CB8AC3E}">
        <p14:creationId xmlns:p14="http://schemas.microsoft.com/office/powerpoint/2010/main" val="720196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8B439-C5FE-A89B-58DE-0E2A83409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841E28-6FA0-2DA3-4F70-448CCFB9A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E36FA3A-A428-2F92-DED4-4FA4C6F58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1BFF8B5-C85C-9C78-F0C5-E6EAC6321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5DA02037-9A37-0769-5738-98ADEF2B7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540F23-998D-A551-27FD-157C479E3A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AE5136D-D19B-20E7-F97B-DD1CF6EFC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7AA5709-DA0D-DC5A-966B-61081FD2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5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82D74EA-FB10-9C5A-C9E1-D253BFE8ED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CBCA054-13C7-1577-9638-8AB8BE17D057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4AB97FE-4E3F-B36B-013E-C30CAB4F5051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10C3803-26B0-2835-61FB-3BB82B614EB2}"/>
              </a:ext>
            </a:extLst>
          </p:cNvPr>
          <p:cNvSpPr txBox="1"/>
          <p:nvPr/>
        </p:nvSpPr>
        <p:spPr>
          <a:xfrm>
            <a:off x="1150762" y="1597880"/>
            <a:ext cx="100786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pt-BR" b="1" dirty="0">
                <a:solidFill>
                  <a:srgbClr val="FF0000"/>
                </a:solidFill>
              </a:rPr>
              <a:t>ATENÇÃO!!!! </a:t>
            </a:r>
            <a:r>
              <a:rPr lang="pt-BR" b="1" dirty="0"/>
              <a:t>Estrutura e Etapa Didática Recomendada:</a:t>
            </a:r>
          </a:p>
          <a:p>
            <a:pPr algn="ctr">
              <a:buNone/>
            </a:pPr>
            <a:endParaRPr lang="pt-BR" b="1" dirty="0"/>
          </a:p>
          <a:p>
            <a:pPr algn="ctr">
              <a:buNone/>
            </a:pPr>
            <a:r>
              <a:rPr lang="pt-BR" dirty="0"/>
              <a:t>A sequência dos arquivos no Github está </a:t>
            </a:r>
            <a:r>
              <a:rPr lang="pt-BR" dirty="0" err="1"/>
              <a:t>dividade</a:t>
            </a:r>
            <a:r>
              <a:rPr lang="pt-BR" dirty="0"/>
              <a:t> em “</a:t>
            </a:r>
            <a:r>
              <a:rPr lang="pt-BR" dirty="0" err="1"/>
              <a:t>md</a:t>
            </a:r>
            <a:r>
              <a:rPr lang="pt-BR" dirty="0"/>
              <a:t>” por </a:t>
            </a:r>
            <a:r>
              <a:rPr lang="pt-BR" dirty="0" err="1"/>
              <a:t>estapa</a:t>
            </a:r>
            <a:r>
              <a:rPr lang="pt-BR" dirty="0"/>
              <a:t> terminado em “...explicado1.md” até a etapa 7 (final), Você deverá seguir cada etapa única sem pular.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E288E61-516C-B500-7BC8-84E43D1602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38600" y="3247120"/>
            <a:ext cx="4880084" cy="274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53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62998-BBD1-AFF7-0399-CE6DF984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49A7B6-3ECE-2133-BB81-19B5B582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63730C-E118-F516-8C13-DA922EB2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0821550-1EFD-482B-2A30-8F7764575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0B2FFFE-EDC5-0BA3-216B-1A698A1D79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87C2B-577B-B4CC-8543-CD896FBF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75983F-0954-304D-DC23-8B7F8E98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DC68ACF-1754-3F88-0EF0-E33A42528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6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704178D-40F8-CF00-031E-BA6CE1020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FFFED70-EF34-BB12-BBCB-540AFC040BCA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3207FB3-5929-9D2B-465B-783368FA4F35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5740A93-2616-96D8-D4E9-6AA39DC0B9B2}"/>
              </a:ext>
            </a:extLst>
          </p:cNvPr>
          <p:cNvSpPr txBox="1"/>
          <p:nvPr/>
        </p:nvSpPr>
        <p:spPr>
          <a:xfrm>
            <a:off x="1907627" y="1760254"/>
            <a:ext cx="932179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Etapa 1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/>
              <a:t>Código Básico </a:t>
            </a:r>
            <a:r>
              <a:rPr lang="pt-BR" b="1" dirty="0" err="1"/>
              <a:t>Raylib</a:t>
            </a:r>
            <a:endParaRPr lang="pt-BR" b="1" dirty="0"/>
          </a:p>
          <a:p>
            <a:pPr>
              <a:buNone/>
            </a:pPr>
            <a:r>
              <a:rPr lang="pt-BR" dirty="0"/>
              <a:t>Arquivo: </a:t>
            </a:r>
            <a:r>
              <a:rPr lang="pt-BR" dirty="0">
                <a:latin typeface="Courier New" panose="02070309020205020404" pitchFamily="49" charset="0"/>
              </a:rPr>
              <a:t>raylib_codigo_basico_explicado1.md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Objetivo</a:t>
            </a:r>
          </a:p>
          <a:p>
            <a:pPr>
              <a:buNone/>
            </a:pPr>
            <a:r>
              <a:rPr lang="pt-BR" dirty="0"/>
              <a:t>Você precisa entender: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loop do jogo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renderização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DrawText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coordenadas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BeginDrawing</a:t>
            </a:r>
            <a:r>
              <a:rPr lang="pt-BR" dirty="0"/>
              <a:t>/</a:t>
            </a:r>
            <a:r>
              <a:rPr lang="pt-BR" dirty="0" err="1"/>
              <a:t>EndDrawing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9012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42C5-8633-9A18-4363-AB5039BB0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9C2D6E-88E3-1EDD-6D55-96352E0F5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D34BA0-714E-8A7F-71C4-BFE41A9C4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4962859-B9FF-0F0B-5E74-0DD84362F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71FC150-6E68-E88F-9A67-2F2AB78F22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F2F285-97DC-CDFA-CA38-43C03A40A0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F870F0-964E-2509-DE51-43445859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132B6788-216E-FE0E-F0CE-38D407042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7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2D936FF1-C81E-3EB0-065C-DF47A1E384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1BE67EF-B1E9-251C-1613-84D8CEF3AAA1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  <a:highlight>
                <a:srgbClr val="FFFF00"/>
              </a:highlight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B30275-BD3E-621F-1820-BCCCEBA44C1C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472A967-3722-1D67-9EDA-6C634A29E502}"/>
              </a:ext>
            </a:extLst>
          </p:cNvPr>
          <p:cNvSpPr txBox="1"/>
          <p:nvPr/>
        </p:nvSpPr>
        <p:spPr>
          <a:xfrm>
            <a:off x="1740224" y="1922062"/>
            <a:ext cx="895218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1 — “Minha Primeira Tela” – Etapa 1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None/>
            </a:pPr>
            <a:r>
              <a:rPr lang="pt-BR" dirty="0"/>
              <a:t>Modifique o programa para:</a:t>
            </a:r>
          </a:p>
          <a:p>
            <a:pPr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mudar o título da janela para: 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Meu Primeiro Game</a:t>
            </a:r>
          </a:p>
          <a:p>
            <a:pPr>
              <a:buFont typeface="+mj-lt"/>
              <a:buAutoNum type="arabicPeriod" startAt="2"/>
            </a:pPr>
            <a:r>
              <a:rPr lang="pt-BR" dirty="0">
                <a:solidFill>
                  <a:srgbClr val="FF0000"/>
                </a:solidFill>
              </a:rPr>
              <a:t>trocar o texto: 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Hello</a:t>
            </a:r>
            <a:r>
              <a:rPr lang="pt-BR" dirty="0">
                <a:latin typeface="Courier New" panose="02070309020205020404" pitchFamily="49" charset="0"/>
              </a:rPr>
              <a:t> World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por: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Bem-vindo ao </a:t>
            </a:r>
            <a:r>
              <a:rPr lang="pt-BR" dirty="0" err="1">
                <a:latin typeface="Courier New" panose="02070309020205020404" pitchFamily="49" charset="0"/>
              </a:rPr>
              <a:t>Raylib</a:t>
            </a:r>
            <a:endParaRPr lang="pt-BR" dirty="0">
              <a:latin typeface="Courier New" panose="02070309020205020404" pitchFamily="49" charset="0"/>
            </a:endParaRPr>
          </a:p>
          <a:p>
            <a:pPr>
              <a:buFont typeface="+mj-lt"/>
              <a:buAutoNum type="arabicPeriod" startAt="3"/>
            </a:pPr>
            <a:r>
              <a:rPr lang="pt-BR" dirty="0">
                <a:solidFill>
                  <a:srgbClr val="FF0000"/>
                </a:solidFill>
              </a:rPr>
              <a:t>mudar a cor do texto para azul </a:t>
            </a:r>
          </a:p>
          <a:p>
            <a:pPr>
              <a:buFont typeface="+mj-lt"/>
              <a:buAutoNum type="arabicPeriod" startAt="3"/>
            </a:pPr>
            <a:r>
              <a:rPr lang="pt-BR" dirty="0">
                <a:solidFill>
                  <a:srgbClr val="FF0000"/>
                </a:solidFill>
              </a:rPr>
              <a:t>aumentar o tamanho da fonte para 40 </a:t>
            </a:r>
          </a:p>
          <a:p>
            <a:pPr>
              <a:buFont typeface="+mj-lt"/>
              <a:buAutoNum type="arabicPeriod" startAt="3"/>
            </a:pPr>
            <a:r>
              <a:rPr lang="pt-BR" dirty="0">
                <a:solidFill>
                  <a:srgbClr val="FF0000"/>
                </a:solidFill>
              </a:rPr>
              <a:t>desenhar um segundo texto: 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Pressione ESC para sair</a:t>
            </a:r>
          </a:p>
        </p:txBody>
      </p:sp>
    </p:spTree>
    <p:extLst>
      <p:ext uri="{BB962C8B-B14F-4D97-AF65-F5344CB8AC3E}">
        <p14:creationId xmlns:p14="http://schemas.microsoft.com/office/powerpoint/2010/main" val="4056689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791E7-8244-6B0F-875F-AC716463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F9212-322B-95B2-0B5B-449B76DAA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731DF7-CBDE-D726-55E2-90106EB1E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A790412-AC77-B404-39D6-82A44806F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8D3019-5555-795F-044E-5963A5061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9886A3-C088-62D0-889A-CDBB8E0F55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85EE3A-4646-86CD-129C-6E98B590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3306B76-AC45-36D8-A0FF-3D272AD7F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8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111FF62-6E79-9108-9EC8-0D0208F599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24D6F3F-A900-B260-5878-54562C399CB6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18DF32C-7098-DE7C-81D8-7D548C3A1D28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4768ACF-C651-7648-6176-751313AC4C54}"/>
              </a:ext>
            </a:extLst>
          </p:cNvPr>
          <p:cNvSpPr txBox="1"/>
          <p:nvPr/>
        </p:nvSpPr>
        <p:spPr>
          <a:xfrm>
            <a:off x="2396359" y="2037253"/>
            <a:ext cx="716936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Extra:</a:t>
            </a:r>
          </a:p>
          <a:p>
            <a:pPr>
              <a:buNone/>
            </a:pPr>
            <a:r>
              <a:rPr lang="pt-BR" dirty="0"/>
              <a:t>Centralize o texto principal na tela.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O que você precisa aprender!</a:t>
            </a:r>
          </a:p>
          <a:p>
            <a:pPr>
              <a:buNone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parâmetros de </a:t>
            </a:r>
            <a:r>
              <a:rPr lang="pt-BR" dirty="0" err="1"/>
              <a:t>DrawText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coordenadas X/Y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tamanho de fonte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cores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organização do frame</a:t>
            </a:r>
          </a:p>
        </p:txBody>
      </p:sp>
    </p:spTree>
    <p:extLst>
      <p:ext uri="{BB962C8B-B14F-4D97-AF65-F5344CB8AC3E}">
        <p14:creationId xmlns:p14="http://schemas.microsoft.com/office/powerpoint/2010/main" val="3268842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624B5-58AC-2855-01AF-6A00113A8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1366F-CF41-A474-5E41-BEB2204B2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D7F20D-2BC7-CEC2-0766-30B96C99D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FA56DF0-F5D8-77A8-56CC-3AE184C5F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C55843B-6AC1-6F39-432E-D00C6EDBE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F253D92-691D-3954-D815-5C7B9684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3F09323-1796-370F-E247-7056A0FD0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D334BB7-9816-B70A-A845-D091C2699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8F2D7D7-8866-E1C7-844E-44ABCAAC6A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EF9DA102-0764-AAA1-49CB-D3D73C11C18B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F06B5E5-0FB3-8CB7-2172-82322430BAE0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2539019-B6B7-7D33-9A2E-48F1B1671F2B}"/>
              </a:ext>
            </a:extLst>
          </p:cNvPr>
          <p:cNvSpPr txBox="1"/>
          <p:nvPr/>
        </p:nvSpPr>
        <p:spPr>
          <a:xfrm>
            <a:off x="2002221" y="1760254"/>
            <a:ext cx="75635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— Etapa 2</a:t>
            </a:r>
          </a:p>
          <a:p>
            <a:pPr>
              <a:buNone/>
            </a:pPr>
            <a:r>
              <a:rPr lang="pt-BR" b="1" dirty="0" err="1"/>
              <a:t>DrawRectangle</a:t>
            </a:r>
            <a:endParaRPr lang="pt-BR" b="1" dirty="0"/>
          </a:p>
          <a:p>
            <a:pPr>
              <a:buNone/>
            </a:pPr>
            <a:r>
              <a:rPr lang="pt-BR" dirty="0"/>
              <a:t>Arquivo: </a:t>
            </a:r>
            <a:r>
              <a:rPr lang="pt-BR" dirty="0">
                <a:latin typeface="Courier New" panose="02070309020205020404" pitchFamily="49" charset="0"/>
              </a:rPr>
              <a:t>raylib_drawrectangle_explicado2.md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Exercício 2 — “Construindo Formas”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Faça:</a:t>
            </a:r>
          </a:p>
          <a:p>
            <a:pPr>
              <a:buFont typeface="+mj-lt"/>
              <a:buAutoNum type="arabicPeriod"/>
            </a:pPr>
            <a:r>
              <a:rPr lang="pt-BR" dirty="0"/>
              <a:t>um quadrado vermelho </a:t>
            </a:r>
          </a:p>
          <a:p>
            <a:pPr>
              <a:buFont typeface="+mj-lt"/>
              <a:buAutoNum type="arabicPeriod"/>
            </a:pPr>
            <a:r>
              <a:rPr lang="pt-BR" dirty="0"/>
              <a:t>um retângulo verde </a:t>
            </a:r>
          </a:p>
          <a:p>
            <a:pPr>
              <a:buFont typeface="+mj-lt"/>
              <a:buAutoNum type="arabicPeriod"/>
            </a:pPr>
            <a:r>
              <a:rPr lang="pt-BR" dirty="0"/>
              <a:t>um quadrado amarelo </a:t>
            </a:r>
          </a:p>
          <a:p>
            <a:pPr>
              <a:buFont typeface="+mj-lt"/>
              <a:buAutoNum type="arabicPeriod"/>
            </a:pPr>
            <a:r>
              <a:rPr lang="pt-BR" dirty="0"/>
              <a:t>cada um em posições diferentes</a:t>
            </a:r>
          </a:p>
        </p:txBody>
      </p:sp>
    </p:spTree>
    <p:extLst>
      <p:ext uri="{BB962C8B-B14F-4D97-AF65-F5344CB8AC3E}">
        <p14:creationId xmlns:p14="http://schemas.microsoft.com/office/powerpoint/2010/main" val="714643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E188-5619-79FA-CF8E-F8838AA9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AEA5FC-9E5C-538B-94E1-54B292199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5A63867-954E-F0B9-DBC7-79FE8100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FBD1BB2-12AD-D516-299F-307353F6D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6555DDF-8EEE-6D53-D8F0-ED421BD94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DD71BC-4FF1-680C-7140-9EA2B76D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D2FA81-AE23-06BB-5F91-4BD51DD74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95B32CC-3CCE-DC38-C7C5-41B4ECE54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10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91B746A-37B2-1C03-1C09-DF09291407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0B0267F3-C505-7397-50FD-730234E2AD91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8D58B7-FD3B-0C98-FE0F-3263DB5B6FE5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92154DE-3602-1A7B-F56E-3FFD1887B5E1}"/>
              </a:ext>
            </a:extLst>
          </p:cNvPr>
          <p:cNvSpPr txBox="1"/>
          <p:nvPr/>
        </p:nvSpPr>
        <p:spPr>
          <a:xfrm>
            <a:off x="2699845" y="2524909"/>
            <a:ext cx="63771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Desafio Extra</a:t>
            </a:r>
          </a:p>
          <a:p>
            <a:pPr>
              <a:buNone/>
            </a:pPr>
            <a:r>
              <a:rPr lang="pt-BR" dirty="0"/>
              <a:t>Monte uma “casinha” usando retângulos: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parede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porta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janela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telhado</a:t>
            </a:r>
          </a:p>
        </p:txBody>
      </p:sp>
    </p:spTree>
    <p:extLst>
      <p:ext uri="{BB962C8B-B14F-4D97-AF65-F5344CB8AC3E}">
        <p14:creationId xmlns:p14="http://schemas.microsoft.com/office/powerpoint/2010/main" val="3166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A4D4A-1CC5-DD59-6D5E-D060084F1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FC92B-0181-D203-ECE6-8549C395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0A9E3A-8CDA-316E-FCBE-80255A09D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B0D0A15-DCD0-40EC-EAA9-CB4045C02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394689B-8497-9057-F0D8-55A15EBA0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ACD69A-544E-76DC-2F54-B63C1F32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BF1622-7A1B-2666-C1C4-BEC4503B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97EB8E8-0716-8B64-5B17-7DA042C7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11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AE9680F-59D4-5FA7-1642-34DA8F2D60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BD31E8E-1A6A-9F80-E7D5-46D8580069AA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972D06-B3BB-47FD-862A-D7E6BCD4C1F1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7623835-E98C-EF5E-776A-C52AAFB157DB}"/>
              </a:ext>
            </a:extLst>
          </p:cNvPr>
          <p:cNvSpPr txBox="1"/>
          <p:nvPr/>
        </p:nvSpPr>
        <p:spPr>
          <a:xfrm>
            <a:off x="3188576" y="2591251"/>
            <a:ext cx="63771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Objetivo Pedagógico</a:t>
            </a:r>
          </a:p>
          <a:p>
            <a:pPr>
              <a:buNone/>
            </a:pPr>
            <a:r>
              <a:rPr lang="pt-BR" dirty="0"/>
              <a:t>Você deve aprender: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sistema de coordenadas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composição visual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múltiplos desenhos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raciocínio espacial</a:t>
            </a:r>
          </a:p>
        </p:txBody>
      </p:sp>
    </p:spTree>
    <p:extLst>
      <p:ext uri="{BB962C8B-B14F-4D97-AF65-F5344CB8AC3E}">
        <p14:creationId xmlns:p14="http://schemas.microsoft.com/office/powerpoint/2010/main" val="3818139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F5D66-BFC6-7F23-9A96-E9492E4CB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D28CE-3C8F-3B9B-4889-9EA206D87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1392094-154F-DB29-DFDE-CADEAA689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F50B7B1-A63D-A966-7108-06E05EAC8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262F220-27B9-DE72-3105-8E7DE5272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C5B584-F8B4-A86A-3A42-A5EA470FB2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CC13C4-60CB-1B81-714A-09285E6F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CE0B4F4E-6916-2BE8-485B-352323403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12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1217C30B-F1E7-AEF5-C8B3-88B7EED3F9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BDEC89A-299F-83D0-4A7E-97CA06A4D846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E407B8A-3F8D-A56F-9F76-0EC0D42B56BA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DDB284C-5238-03AB-7A4C-FEC3D66E64DE}"/>
              </a:ext>
            </a:extLst>
          </p:cNvPr>
          <p:cNvSpPr txBox="1"/>
          <p:nvPr/>
        </p:nvSpPr>
        <p:spPr>
          <a:xfrm>
            <a:off x="3188576" y="1898754"/>
            <a:ext cx="63771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— Etapa 3</a:t>
            </a:r>
          </a:p>
          <a:p>
            <a:pPr>
              <a:buNone/>
            </a:pPr>
            <a:r>
              <a:rPr lang="pt-BR" b="1" dirty="0"/>
              <a:t>Movimento de Quadrado</a:t>
            </a:r>
          </a:p>
          <a:p>
            <a:pPr>
              <a:buNone/>
            </a:pPr>
            <a:r>
              <a:rPr lang="pt-BR" dirty="0"/>
              <a:t>Arquivo: </a:t>
            </a:r>
            <a:r>
              <a:rPr lang="pt-BR" dirty="0">
                <a:latin typeface="Courier New" panose="02070309020205020404" pitchFamily="49" charset="0"/>
              </a:rPr>
              <a:t>raylib_movimento_quadrado_explicado3.md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Exercício 3 — “Quadrado Animado”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None/>
            </a:pPr>
            <a:r>
              <a:rPr lang="pt-BR" dirty="0"/>
              <a:t>Faça o quadrado:</a:t>
            </a:r>
          </a:p>
          <a:p>
            <a:pPr>
              <a:buFont typeface="+mj-lt"/>
              <a:buAutoNum type="arabicPeriod"/>
            </a:pPr>
            <a:r>
              <a:rPr lang="pt-BR" dirty="0"/>
              <a:t>mover para direita </a:t>
            </a:r>
          </a:p>
          <a:p>
            <a:pPr>
              <a:buFont typeface="+mj-lt"/>
              <a:buAutoNum type="arabicPeriod"/>
            </a:pPr>
            <a:r>
              <a:rPr lang="pt-BR" dirty="0"/>
              <a:t>quando sair da tela: 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voltar ao início </a:t>
            </a:r>
          </a:p>
        </p:txBody>
      </p:sp>
    </p:spTree>
    <p:extLst>
      <p:ext uri="{BB962C8B-B14F-4D97-AF65-F5344CB8AC3E}">
        <p14:creationId xmlns:p14="http://schemas.microsoft.com/office/powerpoint/2010/main" val="4111112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262A4-A057-673E-261A-0C6B500CB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981B7A-9E7A-5920-C1B0-DD614BF6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3D327F3-7B90-48B4-3D3D-9E39D55E7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E47DED4-B8D5-774F-8F9C-C9BE383CB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B3FB622-F3E7-45D4-B3C1-224BD1E79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421DF7-A623-2679-732E-1CEB5481F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BE2077D-D4BE-2EBD-6716-66C3AE4E0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7B8D254-A48D-9117-810A-AB9925EDD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13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CCC63FBF-68F0-55A6-C8FB-F71C094BB9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1FA17D8-4B68-1B8B-CF9E-9556CAA80DF2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357324-377C-45E9-F289-1176EA0B3A24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5E834EE-03A9-A443-C151-12C1273701CA}"/>
              </a:ext>
            </a:extLst>
          </p:cNvPr>
          <p:cNvSpPr txBox="1"/>
          <p:nvPr/>
        </p:nvSpPr>
        <p:spPr>
          <a:xfrm>
            <a:off x="3188576" y="1898754"/>
            <a:ext cx="63771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Desafio Extra</a:t>
            </a:r>
          </a:p>
          <a:p>
            <a:pPr>
              <a:buNone/>
            </a:pPr>
            <a:r>
              <a:rPr lang="pt-BR" dirty="0"/>
              <a:t>Crie: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quadrado azul indo para direita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quadrado vermelho indo para esquerda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Super Desafio</a:t>
            </a:r>
          </a:p>
          <a:p>
            <a:pPr>
              <a:buNone/>
            </a:pPr>
            <a:r>
              <a:rPr lang="pt-BR" dirty="0"/>
              <a:t>Faça o quadrado: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acelerar gradualmente </a:t>
            </a:r>
          </a:p>
          <a:p>
            <a:pPr>
              <a:buNone/>
            </a:pPr>
            <a:r>
              <a:rPr lang="pt-BR" dirty="0"/>
              <a:t>Dica: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velocidade += 1;</a:t>
            </a:r>
          </a:p>
        </p:txBody>
      </p:sp>
    </p:spTree>
    <p:extLst>
      <p:ext uri="{BB962C8B-B14F-4D97-AF65-F5344CB8AC3E}">
        <p14:creationId xmlns:p14="http://schemas.microsoft.com/office/powerpoint/2010/main" val="1101928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D7FD-F2B7-0D11-0B27-47BCE0900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D15DDA-E641-C364-62CF-0FB26FB09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948074F-B59E-ED20-6E05-54646301A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8BDFD8F-08D0-1491-FC54-D0868CA46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D5347D4-527E-7606-F2F3-6F617178A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484C39-28F0-3B2A-AAB7-F83411F7B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981E685-AB53-2A56-D27A-588208215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BB4C361-2C03-CDFD-E659-88779A13E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14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83182D4-15BC-C92B-4D3B-209620CCEA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882AEE9-260D-CD5A-4BA0-307F153B63AC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F249DD3-6E68-D30C-1015-9DE1F834AEF5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046FB3D-A7A6-35DE-E468-1DD5459AD9E5}"/>
              </a:ext>
            </a:extLst>
          </p:cNvPr>
          <p:cNvSpPr txBox="1"/>
          <p:nvPr/>
        </p:nvSpPr>
        <p:spPr>
          <a:xfrm>
            <a:off x="3188576" y="2729750"/>
            <a:ext cx="63771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que o aluno aprende</a:t>
            </a:r>
          </a:p>
          <a:p>
            <a:pPr>
              <a:buNone/>
            </a:pP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atualização frame a frame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animação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lógica de movimento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variável de posição </a:t>
            </a:r>
          </a:p>
        </p:txBody>
      </p:sp>
    </p:spTree>
    <p:extLst>
      <p:ext uri="{BB962C8B-B14F-4D97-AF65-F5344CB8AC3E}">
        <p14:creationId xmlns:p14="http://schemas.microsoft.com/office/powerpoint/2010/main" val="1529617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1B31D-45D5-009E-7ADE-991B91107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E17F7-7FEF-13F1-A4A9-3375609F8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52B697-0DA5-A1F3-5247-E4528722C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772C065-555E-8348-1680-7B6D4D7E4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CC534A1-9040-DD9A-0881-F883D2323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992A5C-D686-FA0E-E0AA-04147E67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43B121-7CD7-F5AD-F3FE-E19F4B61F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13588C94-4D25-5B4D-174A-B7966BCF7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15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90A87C5-23B3-F17E-5660-6D8F56785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292E731-15C6-7E7A-1068-F1B019052705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481679C-B984-E482-C78C-BBCC78CBF1EE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7989ADD-5F4C-711D-2BB4-B982227B634E}"/>
              </a:ext>
            </a:extLst>
          </p:cNvPr>
          <p:cNvSpPr txBox="1"/>
          <p:nvPr/>
        </p:nvSpPr>
        <p:spPr>
          <a:xfrm>
            <a:off x="1562654" y="1643142"/>
            <a:ext cx="73967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— Etapa 4</a:t>
            </a:r>
          </a:p>
          <a:p>
            <a:pPr>
              <a:buNone/>
            </a:pPr>
            <a:r>
              <a:rPr lang="pt-BR" b="1" dirty="0"/>
              <a:t>FPS</a:t>
            </a:r>
          </a:p>
          <a:p>
            <a:pPr>
              <a:buNone/>
            </a:pPr>
            <a:r>
              <a:rPr lang="pt-BR" dirty="0"/>
              <a:t>Arquivo: </a:t>
            </a:r>
            <a:r>
              <a:rPr lang="pt-BR" dirty="0">
                <a:latin typeface="Courier New" panose="02070309020205020404" pitchFamily="49" charset="0"/>
              </a:rPr>
              <a:t>raylib_settargetfps_explicado4.md</a:t>
            </a:r>
            <a:endParaRPr lang="pt-BR" dirty="0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2053E54-0160-D14F-A79D-268CD974900A}"/>
              </a:ext>
            </a:extLst>
          </p:cNvPr>
          <p:cNvSpPr txBox="1"/>
          <p:nvPr/>
        </p:nvSpPr>
        <p:spPr>
          <a:xfrm>
            <a:off x="1605516" y="2742028"/>
            <a:ext cx="63771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4 — “Testando FPS”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Teste o jogo usando: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SetTargetFPS</a:t>
            </a:r>
            <a:r>
              <a:rPr lang="pt-BR" dirty="0">
                <a:latin typeface="Courier New" panose="02070309020205020404" pitchFamily="49" charset="0"/>
              </a:rPr>
              <a:t>(10);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Depois: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SetTargetFPS</a:t>
            </a:r>
            <a:r>
              <a:rPr lang="pt-BR" dirty="0">
                <a:latin typeface="Courier New" panose="02070309020205020404" pitchFamily="49" charset="0"/>
              </a:rPr>
              <a:t>(30);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Depois: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SetTargetFPS</a:t>
            </a:r>
            <a:r>
              <a:rPr lang="pt-BR" dirty="0">
                <a:latin typeface="Courier New" panose="02070309020205020404" pitchFamily="49" charset="0"/>
              </a:rPr>
              <a:t>(60);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E responda:</a:t>
            </a:r>
          </a:p>
          <a:p>
            <a:pPr>
              <a:buFont typeface="+mj-lt"/>
              <a:buAutoNum type="arabicPeriod"/>
            </a:pPr>
            <a:r>
              <a:rPr lang="pt-BR" dirty="0"/>
              <a:t>Qual ficou mais suave? </a:t>
            </a:r>
          </a:p>
          <a:p>
            <a:pPr>
              <a:buFont typeface="+mj-lt"/>
              <a:buAutoNum type="arabicPeriod"/>
            </a:pPr>
            <a:r>
              <a:rPr lang="pt-BR" dirty="0"/>
              <a:t>Qual ficou mais lento? </a:t>
            </a:r>
          </a:p>
          <a:p>
            <a:pPr>
              <a:buFont typeface="+mj-lt"/>
              <a:buAutoNum type="arabicPeriod"/>
            </a:pPr>
            <a:r>
              <a:rPr lang="pt-BR" dirty="0"/>
              <a:t>O movimento mudou? </a:t>
            </a:r>
          </a:p>
          <a:p>
            <a:pPr>
              <a:buFont typeface="+mj-lt"/>
              <a:buAutoNum type="arabicPeriod"/>
            </a:pPr>
            <a:r>
              <a:rPr lang="pt-BR" dirty="0"/>
              <a:t>O que acontece sem </a:t>
            </a:r>
            <a:r>
              <a:rPr lang="pt-BR" dirty="0" err="1"/>
              <a:t>SetTargetFPS</a:t>
            </a:r>
            <a:r>
              <a:rPr lang="pt-BR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2357993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A778-C3B7-C14F-3A3F-5818313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2899A-B4B2-ACA7-F51A-C04C5EE5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07685A-7A39-7AC8-09E4-D42D7CC9D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121EE54-8DFE-8AA1-92E8-F6CD898C6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2B54338-80BA-B873-96B3-9DE13CFBF1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947FD6-5124-92DB-B4C8-F0F6BE9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747BD9-1FFE-CCA5-E394-99C61314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A1E717F3-0BE8-5887-673C-02C6A152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16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26A3E95-63E9-545B-CA0D-F73AF41A5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1B98BAB-095D-ECA6-5E45-C4006269FD32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F153C01-DC04-59D9-E865-696B18FBB58B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ACD959F-CEC1-4811-11DE-C7AE7561FBFF}"/>
              </a:ext>
            </a:extLst>
          </p:cNvPr>
          <p:cNvSpPr txBox="1"/>
          <p:nvPr/>
        </p:nvSpPr>
        <p:spPr>
          <a:xfrm>
            <a:off x="3188576" y="3006749"/>
            <a:ext cx="6377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Prático</a:t>
            </a:r>
          </a:p>
          <a:p>
            <a:pPr>
              <a:buNone/>
            </a:pPr>
            <a:r>
              <a:rPr lang="pt-BR" dirty="0"/>
              <a:t>Mostre o FPS na tela usando: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DrawFPS</a:t>
            </a:r>
            <a:r>
              <a:rPr lang="pt-BR" dirty="0">
                <a:latin typeface="Courier New" panose="02070309020205020404" pitchFamily="49" charset="0"/>
              </a:rPr>
              <a:t>(10, 10);</a:t>
            </a:r>
          </a:p>
        </p:txBody>
      </p:sp>
    </p:spTree>
    <p:extLst>
      <p:ext uri="{BB962C8B-B14F-4D97-AF65-F5344CB8AC3E}">
        <p14:creationId xmlns:p14="http://schemas.microsoft.com/office/powerpoint/2010/main" val="39488055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05078-3A78-8926-E392-184276E8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0F59CF-7A25-2E18-2B37-779F6210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91D899-F732-0628-E0A0-9A31C6F6C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10D9EBF-9C61-1EA3-E271-F416ACF53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CAC513E-B6E9-1863-037A-C6BA2D3F5F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99E9F94-9E44-D6B3-20CF-9F9A7D6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8B37A0-C900-98FB-D510-CBCE1D0BC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85FC7C6B-31C3-181C-F8C2-27400E91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17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EBB6F07-1DE5-D2B6-3C0E-764EEEE262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12C9E97-A6D5-01A9-7C23-1963C2FA040D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4CD10B-90AF-DE48-796B-3D5CCB715126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3A07FD0-2A35-6E2F-0C8E-00D962E6C0E5}"/>
              </a:ext>
            </a:extLst>
          </p:cNvPr>
          <p:cNvSpPr txBox="1"/>
          <p:nvPr/>
        </p:nvSpPr>
        <p:spPr>
          <a:xfrm>
            <a:off x="3188576" y="2591251"/>
            <a:ext cx="63771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Objetivo Pedagógico</a:t>
            </a:r>
          </a:p>
          <a:p>
            <a:pPr>
              <a:buNone/>
            </a:pPr>
            <a:r>
              <a:rPr lang="pt-BR" dirty="0"/>
              <a:t>Você deve entender: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frames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renderização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sincronização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impacto do FPS</a:t>
            </a:r>
          </a:p>
        </p:txBody>
      </p:sp>
    </p:spTree>
    <p:extLst>
      <p:ext uri="{BB962C8B-B14F-4D97-AF65-F5344CB8AC3E}">
        <p14:creationId xmlns:p14="http://schemas.microsoft.com/office/powerpoint/2010/main" val="592546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A39F5-BE29-ED76-24AF-17E831F7A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49BB24-D859-2D41-A836-2C1E9A5AC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014A00-52D0-5D2E-C90A-DF3EA608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3698335-7065-0FBB-16AC-B6D5D3460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8D3FC2E-4A67-67B9-62EB-3B433EDA99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0DBFE4-7104-9C3B-E8BE-E63C8F22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C2C0E5-929F-1C14-6224-F6EA718B0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F685B534-3A63-9256-DDCD-6ED2F9BC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18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D1D78F3-2AB6-3939-E72F-C8930C3C47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74ACE94-1590-C7C0-B2B2-596A85C3160D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AD1D1DD-ADE2-4B6A-1213-4BDA45D0734A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4F6DB5-3C89-7133-4285-09CB051EA8A5}"/>
              </a:ext>
            </a:extLst>
          </p:cNvPr>
          <p:cNvSpPr txBox="1"/>
          <p:nvPr/>
        </p:nvSpPr>
        <p:spPr>
          <a:xfrm>
            <a:off x="3062452" y="1708150"/>
            <a:ext cx="63771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— Etapa 5</a:t>
            </a:r>
          </a:p>
          <a:p>
            <a:pPr>
              <a:buNone/>
            </a:pPr>
            <a:r>
              <a:rPr lang="pt-BR" b="1" dirty="0"/>
              <a:t>Texturas/Sprites</a:t>
            </a:r>
          </a:p>
          <a:p>
            <a:pPr>
              <a:buNone/>
            </a:pPr>
            <a:r>
              <a:rPr lang="pt-BR" dirty="0"/>
              <a:t>Arquivo: </a:t>
            </a:r>
            <a:r>
              <a:rPr lang="pt-BR" dirty="0">
                <a:latin typeface="Courier New" panose="02070309020205020404" pitchFamily="49" charset="0"/>
              </a:rPr>
              <a:t>raylib_texturas_inserirFigura_explicado5.md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Exercício 5 — “Meu Primeiro Personagem”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Font typeface="+mj-lt"/>
              <a:buAutoNum type="arabicPeriod"/>
            </a:pPr>
            <a:r>
              <a:rPr lang="pt-BR" dirty="0"/>
              <a:t>troque a imagem </a:t>
            </a:r>
            <a:r>
              <a:rPr lang="pt-BR" dirty="0">
                <a:latin typeface="Courier New" panose="02070309020205020404" pitchFamily="49" charset="0"/>
              </a:rPr>
              <a:t>feliz.png</a:t>
            </a:r>
            <a:r>
              <a:rPr lang="pt-BR" dirty="0"/>
              <a:t> </a:t>
            </a:r>
          </a:p>
          <a:p>
            <a:pPr>
              <a:buFont typeface="+mj-lt"/>
              <a:buAutoNum type="arabicPeriod"/>
            </a:pPr>
            <a:r>
              <a:rPr lang="pt-BR" dirty="0"/>
              <a:t>coloque outro personagem </a:t>
            </a:r>
          </a:p>
          <a:p>
            <a:pPr>
              <a:buFont typeface="+mj-lt"/>
              <a:buAutoNum type="arabicPeriod"/>
            </a:pPr>
            <a:r>
              <a:rPr lang="pt-BR" dirty="0"/>
              <a:t>desenhe: 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2 imagens diferentes </a:t>
            </a:r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em posições diferentes</a:t>
            </a:r>
          </a:p>
        </p:txBody>
      </p:sp>
    </p:spTree>
    <p:extLst>
      <p:ext uri="{BB962C8B-B14F-4D97-AF65-F5344CB8AC3E}">
        <p14:creationId xmlns:p14="http://schemas.microsoft.com/office/powerpoint/2010/main" val="169456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C09AC-0EF0-30C0-28B4-9526597E1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FDEC3-E8B4-0625-4811-9C9EDC158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FCDFC7-62B0-46D2-3EEE-8373D5BF9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9182285-FDFB-0A2A-BC23-4A6FC9919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2F11F74-7DDE-17B1-D06E-E2C4E51D4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F63D42-72D4-2510-400F-881E9044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16D914-47BA-BE99-C0DA-4EFC1C214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78481BD6-2947-1ED7-3A3B-42ADC95C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19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44EAAC5-145B-CA9F-27E8-57E1220CCC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13C71C5-1496-2ABF-4B03-16633DFBDB66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DDB8976-9424-A03D-705D-F23E54D44F0C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DF450D1-71BA-BA67-CBEF-526E2CD23C76}"/>
              </a:ext>
            </a:extLst>
          </p:cNvPr>
          <p:cNvSpPr txBox="1"/>
          <p:nvPr/>
        </p:nvSpPr>
        <p:spPr>
          <a:xfrm>
            <a:off x="2880596" y="1708150"/>
            <a:ext cx="63771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Desafio Extra</a:t>
            </a:r>
          </a:p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Desenhe</a:t>
            </a:r>
            <a:r>
              <a:rPr lang="pt-BR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personagem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inimigo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 item 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Super Desafio</a:t>
            </a:r>
          </a:p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Tinte as figuras com: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GREEN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BLUE </a:t>
            </a:r>
          </a:p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usando: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DrawTexture</a:t>
            </a:r>
            <a:r>
              <a:rPr lang="pt-BR" dirty="0">
                <a:latin typeface="Courier New" panose="02070309020205020404" pitchFamily="49" charset="0"/>
              </a:rPr>
              <a:t>(sprite, x, y, RED);</a:t>
            </a:r>
          </a:p>
        </p:txBody>
      </p:sp>
    </p:spTree>
    <p:extLst>
      <p:ext uri="{BB962C8B-B14F-4D97-AF65-F5344CB8AC3E}">
        <p14:creationId xmlns:p14="http://schemas.microsoft.com/office/powerpoint/2010/main" val="3773554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8D79E-103B-1284-482B-3B52150CF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BCFE7F-7C8D-8BB5-CE50-C3F9030DA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EDE477B-12FE-1605-BB54-369874230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8136E75-3EBB-6437-C6A2-594F7D957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AB484C4-DE32-B256-3C95-6175AF72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8085F7-BA56-6C0B-2236-68B22285D9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4E05D26-27B7-784B-890E-C767BD1AD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3BAFB592-3173-B4FA-BED0-F6676D191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20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07DD40C-200F-387A-8B64-5CD165105C3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81BDE8D-418A-B31C-907D-8D7152F78491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7A34B4-E2AF-F0F2-F3E0-32337D26C201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94C357-C143-5D8C-8696-C39544CBE37D}"/>
              </a:ext>
            </a:extLst>
          </p:cNvPr>
          <p:cNvSpPr txBox="1"/>
          <p:nvPr/>
        </p:nvSpPr>
        <p:spPr>
          <a:xfrm>
            <a:off x="3188576" y="2729750"/>
            <a:ext cx="63771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Você de aprender!</a:t>
            </a:r>
            <a:br>
              <a:rPr lang="pt-BR" b="1" dirty="0"/>
            </a:b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assets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texturas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sprites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renderização gráfica real </a:t>
            </a:r>
          </a:p>
        </p:txBody>
      </p:sp>
    </p:spTree>
    <p:extLst>
      <p:ext uri="{BB962C8B-B14F-4D97-AF65-F5344CB8AC3E}">
        <p14:creationId xmlns:p14="http://schemas.microsoft.com/office/powerpoint/2010/main" val="1782869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7E3E-6641-6D70-48C1-93F9D9B8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6D95D-590C-EBAF-C20C-9A2913A5E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4DAB979-5D02-E8FE-D218-9C980C2B0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7E8590F-EB3B-840F-778A-8D9BA7F0E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4A53502-F24D-BABD-7001-A75833FC7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A26699-1C73-1132-2373-64DA1A99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4890C9-7ABC-9CF6-35BC-745D7950F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4EBF2CB-9420-494B-AD51-D6CF19461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21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A7EA853-A2E8-AA4C-1902-87BB33AC5F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B1CB28AC-6F90-BEE1-176F-F7B0B2F55EF6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60D333A-A6F2-239B-B3C1-86255BFA13F9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A96A8F9-B19C-71CC-4166-F740A0E286AB}"/>
              </a:ext>
            </a:extLst>
          </p:cNvPr>
          <p:cNvSpPr txBox="1"/>
          <p:nvPr/>
        </p:nvSpPr>
        <p:spPr>
          <a:xfrm>
            <a:off x="2272855" y="1421687"/>
            <a:ext cx="81323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— Etapa 6</a:t>
            </a:r>
          </a:p>
          <a:p>
            <a:pPr>
              <a:buNone/>
            </a:pPr>
            <a:r>
              <a:rPr lang="pt-BR" b="1" dirty="0"/>
              <a:t>Delta Time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Arquivos: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Courier New" panose="02070309020205020404" pitchFamily="49" charset="0"/>
              </a:rPr>
              <a:t>raylib_movimento_sprite_delta_time6.md</a:t>
            </a:r>
            <a:r>
              <a:rPr lang="pt-B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>
                <a:latin typeface="Courier New" panose="02070309020205020404" pitchFamily="49" charset="0"/>
              </a:rPr>
              <a:t>raylib_delta_time_movimento_profissional6.md</a:t>
            </a:r>
            <a:r>
              <a:rPr lang="pt-BR" dirty="0"/>
              <a:t> </a:t>
            </a:r>
          </a:p>
          <a:p>
            <a:pPr>
              <a:buNone/>
            </a:pPr>
            <a:br>
              <a:rPr lang="pt-BR" dirty="0"/>
            </a:br>
            <a:r>
              <a:rPr lang="pt-BR" b="1" dirty="0"/>
              <a:t>Exercício 6 — “Movimento Profissional”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Faça:</a:t>
            </a:r>
          </a:p>
          <a:p>
            <a:pPr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alterar velocidade da imagem: 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100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300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600</a:t>
            </a:r>
          </a:p>
          <a:p>
            <a:pPr>
              <a:buFont typeface="+mj-lt"/>
              <a:buAutoNum type="arabicPeriod" startAt="2"/>
            </a:pPr>
            <a:r>
              <a:rPr lang="pt-BR" dirty="0">
                <a:solidFill>
                  <a:srgbClr val="FF0000"/>
                </a:solidFill>
              </a:rPr>
              <a:t>testar em FPS diferentes </a:t>
            </a:r>
          </a:p>
          <a:p>
            <a:pPr>
              <a:buFont typeface="+mj-lt"/>
              <a:buAutoNum type="arabicPeriod" startAt="2"/>
            </a:pPr>
            <a:r>
              <a:rPr lang="pt-BR" dirty="0">
                <a:solidFill>
                  <a:srgbClr val="FF0000"/>
                </a:solidFill>
              </a:rPr>
              <a:t>responder: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 movimento mudou?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por quê?</a:t>
            </a:r>
          </a:p>
        </p:txBody>
      </p:sp>
    </p:spTree>
    <p:extLst>
      <p:ext uri="{BB962C8B-B14F-4D97-AF65-F5344CB8AC3E}">
        <p14:creationId xmlns:p14="http://schemas.microsoft.com/office/powerpoint/2010/main" val="13870543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9AFA8-95B6-842F-E226-1AA811BE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E82C4C-CD3A-F073-022A-D14C7BDB2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F595948-2ECE-62B9-A976-AA091A76A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B6E8B3-AD12-7472-40C7-26CA1C45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19E67D5C-A33D-21F4-B2E3-D4DE9991E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00FCF7-E2C1-E853-2216-CFEE0664E4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6AD15F-FE98-A39A-6FD0-3E19A9A22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E2837C8-7976-C738-BC30-E76BCF71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22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DB61475-DCD1-34B1-CDD1-78D051BDD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B958BA2-3C10-BC1C-3D8F-00DFEDF96776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BFA91A1-ECFE-58AD-A9BF-6E2BA3762FDB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0FA7E98-017D-FF70-73F8-DAE5E0942E24}"/>
              </a:ext>
            </a:extLst>
          </p:cNvPr>
          <p:cNvSpPr txBox="1"/>
          <p:nvPr/>
        </p:nvSpPr>
        <p:spPr>
          <a:xfrm>
            <a:off x="2289942" y="1817716"/>
            <a:ext cx="63771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Desafio Extra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Faça: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Uma figura lenta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Uma figura rápida </a:t>
            </a:r>
          </a:p>
          <a:p>
            <a:pPr>
              <a:buNone/>
            </a:pPr>
            <a:r>
              <a:rPr lang="pt-BR" dirty="0"/>
              <a:t>usando velocidades diferentes.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Super Desafio</a:t>
            </a:r>
          </a:p>
          <a:p>
            <a:pPr>
              <a:buNone/>
            </a:pPr>
            <a:r>
              <a:rPr lang="pt-BR" dirty="0"/>
              <a:t>Faça a figura: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mover diagonalmente </a:t>
            </a:r>
          </a:p>
          <a:p>
            <a:pPr>
              <a:buNone/>
            </a:pPr>
            <a:r>
              <a:rPr lang="pt-BR" dirty="0"/>
              <a:t>Dica:</a:t>
            </a: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posX</a:t>
            </a:r>
            <a:r>
              <a:rPr lang="pt-BR" dirty="0">
                <a:latin typeface="Courier New" panose="02070309020205020404" pitchFamily="49" charset="0"/>
              </a:rPr>
              <a:t> += </a:t>
            </a:r>
            <a:r>
              <a:rPr lang="pt-BR" dirty="0" err="1">
                <a:latin typeface="Courier New" panose="02070309020205020404" pitchFamily="49" charset="0"/>
              </a:rPr>
              <a:t>GetFrameTime</a:t>
            </a:r>
            <a:r>
              <a:rPr lang="pt-BR" dirty="0">
                <a:latin typeface="Courier New" panose="02070309020205020404" pitchFamily="49" charset="0"/>
              </a:rPr>
              <a:t>() * 300;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 err="1">
                <a:latin typeface="Courier New" panose="02070309020205020404" pitchFamily="49" charset="0"/>
              </a:rPr>
              <a:t>posY</a:t>
            </a:r>
            <a:r>
              <a:rPr lang="pt-BR" dirty="0">
                <a:latin typeface="Courier New" panose="02070309020205020404" pitchFamily="49" charset="0"/>
              </a:rPr>
              <a:t> += </a:t>
            </a:r>
            <a:r>
              <a:rPr lang="pt-BR" dirty="0" err="1">
                <a:latin typeface="Courier New" panose="02070309020205020404" pitchFamily="49" charset="0"/>
              </a:rPr>
              <a:t>GetFrameTime</a:t>
            </a:r>
            <a:r>
              <a:rPr lang="pt-BR" dirty="0">
                <a:latin typeface="Courier New" panose="02070309020205020404" pitchFamily="49" charset="0"/>
              </a:rPr>
              <a:t>() * 100;</a:t>
            </a:r>
          </a:p>
        </p:txBody>
      </p:sp>
    </p:spTree>
    <p:extLst>
      <p:ext uri="{BB962C8B-B14F-4D97-AF65-F5344CB8AC3E}">
        <p14:creationId xmlns:p14="http://schemas.microsoft.com/office/powerpoint/2010/main" val="34972720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FFD1-C248-D402-6549-41563458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90DE2-3BE4-84F2-AC39-21E34B39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C39A51-2738-437A-183C-59F7188E7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A362711-3B7A-D454-FB4A-65C39E3AD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95B05C4-3AA6-E1CB-4CFA-521967AA2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D2F171-362E-3A5E-236A-FF18CE40EB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2BDDA1A-5F9D-C760-FDA9-D326A3CF3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8B2C2434-C4F7-EC5E-89CF-36ACA3CFF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23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AA119D7-DBFB-2554-463D-7F311C5EA1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D0FCD23-F11E-DF43-1A72-AE55DECD55A5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238BCC7-130A-3580-0BD4-5ABFB0356B32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B73CFBD-0A96-F9A4-31EA-35E0922A9FD3}"/>
              </a:ext>
            </a:extLst>
          </p:cNvPr>
          <p:cNvSpPr txBox="1"/>
          <p:nvPr/>
        </p:nvSpPr>
        <p:spPr>
          <a:xfrm>
            <a:off x="3188576" y="2729750"/>
            <a:ext cx="637715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Objetivo Pedagógico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Aqui ocorre o “salto mental” importante: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FPS ≠ velocidade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movimento baseado em tempo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padrão profissional</a:t>
            </a:r>
          </a:p>
        </p:txBody>
      </p:sp>
    </p:spTree>
    <p:extLst>
      <p:ext uri="{BB962C8B-B14F-4D97-AF65-F5344CB8AC3E}">
        <p14:creationId xmlns:p14="http://schemas.microsoft.com/office/powerpoint/2010/main" val="2052706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7A69A-66CB-EEE8-C1E4-4AE099D00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8D794-0B7C-B16A-4920-A27D634E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13BE8C4-92EF-7960-042D-DC028E534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C954AD2-0D72-A361-D53B-034329B4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09016CEB-2BCE-C7CB-F54B-0AEF6DF5AB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DFB42A-D63F-CEC2-02B8-8EC7797B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E4D3B5-DEDB-7FAD-84E7-BC424825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EBAA762-37C7-6C99-7220-6E29B675A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24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062999D-30A3-D672-5564-02A2E83640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2447D29-781D-A97E-F23D-8D5991AF1512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8F98C40-3999-B35D-E32C-5B1CDCE1D1DE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10F699-F2B5-B269-2DF5-08AC149EB773}"/>
              </a:ext>
            </a:extLst>
          </p:cNvPr>
          <p:cNvSpPr txBox="1"/>
          <p:nvPr/>
        </p:nvSpPr>
        <p:spPr>
          <a:xfrm>
            <a:off x="2100754" y="1817716"/>
            <a:ext cx="859165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— Etapa 7</a:t>
            </a:r>
          </a:p>
          <a:p>
            <a:pPr>
              <a:buNone/>
            </a:pPr>
            <a:r>
              <a:rPr lang="pt-BR" b="1" dirty="0"/>
              <a:t>Áudio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Arquivo:</a:t>
            </a:r>
            <a:br>
              <a:rPr lang="pt-BR" dirty="0"/>
            </a:br>
            <a:r>
              <a:rPr lang="pt-BR" dirty="0">
                <a:latin typeface="Courier New" panose="02070309020205020404" pitchFamily="49" charset="0"/>
              </a:rPr>
              <a:t>raylib_audio_sound_effects_explicado7.md</a:t>
            </a:r>
            <a:r>
              <a:rPr lang="pt-BR" dirty="0"/>
              <a:t> 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b="1" dirty="0"/>
              <a:t>Exercício 7 — “Criando Sons do Jogo”</a:t>
            </a:r>
          </a:p>
          <a:p>
            <a:pPr>
              <a:buNone/>
            </a:pPr>
            <a:r>
              <a:rPr lang="pt-BR" b="1" dirty="0"/>
              <a:t>Desafio</a:t>
            </a:r>
          </a:p>
          <a:p>
            <a:pPr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trocar o som original </a:t>
            </a:r>
          </a:p>
          <a:p>
            <a:pPr>
              <a:buFont typeface="+mj-lt"/>
              <a:buAutoNum type="arabicPeriod"/>
            </a:pPr>
            <a:r>
              <a:rPr lang="pt-BR" dirty="0">
                <a:solidFill>
                  <a:srgbClr val="FF0000"/>
                </a:solidFill>
              </a:rPr>
              <a:t>colocar: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tiro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explosão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moeda </a:t>
            </a:r>
          </a:p>
          <a:p>
            <a:pPr>
              <a:buFont typeface="+mj-lt"/>
              <a:buAutoNum type="arabicPeriod" startAt="3"/>
            </a:pPr>
            <a:r>
              <a:rPr lang="pt-BR" dirty="0">
                <a:solidFill>
                  <a:srgbClr val="FF0000"/>
                </a:solidFill>
              </a:rPr>
              <a:t>tocar som: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ao clicar mouse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ao apertar espaço </a:t>
            </a:r>
          </a:p>
        </p:txBody>
      </p:sp>
    </p:spTree>
    <p:extLst>
      <p:ext uri="{BB962C8B-B14F-4D97-AF65-F5344CB8AC3E}">
        <p14:creationId xmlns:p14="http://schemas.microsoft.com/office/powerpoint/2010/main" val="7993558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BA885-0379-8DEA-60E3-2FA36019C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A062EB-368C-DB69-F6E8-3723F56AB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A9EF545-145E-AB57-2788-821AB5AD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28064F6-C095-6605-55B1-0D2385482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CB74A90-4F29-10D9-008E-233DA1E802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5DC268-8629-2701-F628-AEAC4EF8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F6AEAC4-8E57-7793-0C02-E06FE8F7C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10C56686-ADDF-8659-1B6F-A00DBAD1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25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5053076-B569-D94A-D3AB-1109A88DA0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64CD80E-50F9-4BD8-D1D1-E0704591C34F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4029476-40C2-93AF-766A-EE2291D1F4CB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035C3C3-FF38-BA36-F5C9-99C61F2009A9}"/>
              </a:ext>
            </a:extLst>
          </p:cNvPr>
          <p:cNvSpPr txBox="1"/>
          <p:nvPr/>
        </p:nvSpPr>
        <p:spPr>
          <a:xfrm>
            <a:off x="3188576" y="2037253"/>
            <a:ext cx="63771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Desafio Extra</a:t>
            </a:r>
          </a:p>
          <a:p>
            <a:pPr>
              <a:buNone/>
            </a:pPr>
            <a:r>
              <a:rPr lang="pt-BR" dirty="0"/>
              <a:t>Adicionar:</a:t>
            </a:r>
          </a:p>
          <a:p>
            <a:pPr rtl="0">
              <a:buNone/>
            </a:pPr>
            <a:r>
              <a:rPr lang="pt-BR" dirty="0">
                <a:latin typeface="Courier New" panose="02070309020205020404" pitchFamily="49" charset="0"/>
              </a:rPr>
              <a:t>Music </a:t>
            </a:r>
            <a:r>
              <a:rPr lang="pt-BR" dirty="0" err="1">
                <a:latin typeface="Courier New" panose="02070309020205020404" pitchFamily="49" charset="0"/>
              </a:rPr>
              <a:t>music</a:t>
            </a:r>
            <a:r>
              <a:rPr lang="pt-BR" dirty="0">
                <a:latin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pt-BR" dirty="0"/>
              <a:t>e tocar música de fundo.</a:t>
            </a:r>
          </a:p>
          <a:p>
            <a:pPr>
              <a:buNone/>
            </a:pPr>
            <a:br>
              <a:rPr lang="pt-BR" dirty="0"/>
            </a:br>
            <a:endParaRPr lang="pt-BR" dirty="0"/>
          </a:p>
          <a:p>
            <a:pPr>
              <a:buNone/>
            </a:pPr>
            <a:r>
              <a:rPr lang="pt-BR" b="1" dirty="0"/>
              <a:t>Super Desafio</a:t>
            </a:r>
          </a:p>
          <a:p>
            <a:pPr>
              <a:buNone/>
            </a:pPr>
            <a:r>
              <a:rPr lang="pt-BR" dirty="0"/>
              <a:t>Criar: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som de tiro no clique esquerdo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som diferente no clique direito</a:t>
            </a:r>
          </a:p>
        </p:txBody>
      </p:sp>
    </p:spTree>
    <p:extLst>
      <p:ext uri="{BB962C8B-B14F-4D97-AF65-F5344CB8AC3E}">
        <p14:creationId xmlns:p14="http://schemas.microsoft.com/office/powerpoint/2010/main" val="2467585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6F6A5-03EC-94C9-7AF6-23CD95FF3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9AA84-259D-91FE-ABC5-CFCA4E6F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5113F92-B711-6522-4309-9BAD3C370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1F5ED06-7F70-AAEB-4D82-E8676B73A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371CA6E-BC16-119F-B47F-48D6BACFD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93FA63-767C-D683-F549-F531A1A547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D289EA-99D0-1FC3-1B2C-A8D57A90F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04750B0B-5A18-1D49-CD75-A158C20F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26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0929640D-743C-5DE2-4119-C9E6C5B0D4E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5CEB12C2-343E-4FF3-1D67-5DC9D6D3841E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5FA05E5-930C-D8B9-4CD5-B384413A85E1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A71A2D-6EC8-B8E7-5A8C-05880A464057}"/>
              </a:ext>
            </a:extLst>
          </p:cNvPr>
          <p:cNvSpPr txBox="1"/>
          <p:nvPr/>
        </p:nvSpPr>
        <p:spPr>
          <a:xfrm>
            <a:off x="2542189" y="2690336"/>
            <a:ext cx="637715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Você deve aprender:</a:t>
            </a:r>
            <a:br>
              <a:rPr lang="pt-BR" b="1" dirty="0"/>
            </a:br>
            <a:endParaRPr lang="pt-BR" b="1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áudio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eventos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interação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 err="1"/>
              <a:t>engine</a:t>
            </a:r>
            <a:r>
              <a:rPr lang="pt-BR" dirty="0"/>
              <a:t> sonora</a:t>
            </a:r>
          </a:p>
        </p:txBody>
      </p:sp>
    </p:spTree>
    <p:extLst>
      <p:ext uri="{BB962C8B-B14F-4D97-AF65-F5344CB8AC3E}">
        <p14:creationId xmlns:p14="http://schemas.microsoft.com/office/powerpoint/2010/main" val="14776026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C3DFF-77E0-6299-DC00-7B2403E6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C0BB3-7065-B434-EE0B-9298130F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DC23248-77AB-7534-1B30-7CB110CC3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91B95BCE-F615-A0D3-9CFE-5792B8475F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E9E7759-14D7-0C2F-57BC-249CA12B6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D4D064D-EE22-3F89-74A1-92B6AF6466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2B78003-A452-65A3-F115-95B889EC4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841010E1-985F-C46C-C46B-E6E2724D6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27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64892B0-A3EA-12F4-C07C-E7C028FBA9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DCB4089-66B2-D8CD-E7FD-8B876ACE9279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C430D3D-8DA0-B5A2-D349-C4AA61F68B73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5FB5494-3DD6-1F59-A02D-D5DB465484FA}"/>
              </a:ext>
            </a:extLst>
          </p:cNvPr>
          <p:cNvSpPr txBox="1"/>
          <p:nvPr/>
        </p:nvSpPr>
        <p:spPr>
          <a:xfrm>
            <a:off x="3188576" y="2868250"/>
            <a:ext cx="63771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Exercício Final Integrador</a:t>
            </a:r>
          </a:p>
          <a:p>
            <a:pPr>
              <a:buNone/>
            </a:pPr>
            <a:r>
              <a:rPr lang="pt-BR" b="1" dirty="0"/>
              <a:t>Mini Jogo de Tiro</a:t>
            </a:r>
          </a:p>
          <a:p>
            <a:pPr>
              <a:buNone/>
            </a:pPr>
            <a:r>
              <a:rPr lang="pt-BR" dirty="0"/>
              <a:t>Arquivo base:</a:t>
            </a:r>
            <a:br>
              <a:rPr lang="pt-BR" dirty="0"/>
            </a:br>
            <a:r>
              <a:rPr lang="pt-BR" dirty="0">
                <a:latin typeface="Courier New" panose="02070309020205020404" pitchFamily="49" charset="0"/>
              </a:rPr>
              <a:t>mainFINAL.md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216031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3828D-C158-0223-7733-699A0F6E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4604F6-E156-7F00-D497-A2CBA1903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77C79D0-5591-B094-9B93-5FDFF9A3E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6395F4A-A548-69F4-75FE-61B7D7CD5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40A6F36-0F0A-6E55-4311-65D0D6244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FE072F-0C59-28B4-0EAD-02766CED0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6EFABC-483E-0D2E-0158-A7A3EA9C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43455752-4CFB-D4DE-140C-CAC8954B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28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2BDDC47-23AC-4412-96CC-49F7318FBA1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A3290CED-9DBA-6C56-F721-5AB522E809B5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EA79C35-5F27-9DF2-FDF5-E2F25D3D3171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5F7D84E-2485-033D-52AD-CD69A7EF8BAA}"/>
              </a:ext>
            </a:extLst>
          </p:cNvPr>
          <p:cNvSpPr txBox="1"/>
          <p:nvPr/>
        </p:nvSpPr>
        <p:spPr>
          <a:xfrm>
            <a:off x="3188576" y="2037253"/>
            <a:ext cx="63771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Projeto Final — “Mini </a:t>
            </a:r>
            <a:r>
              <a:rPr lang="pt-BR" b="1" dirty="0" err="1"/>
              <a:t>Shooter</a:t>
            </a:r>
            <a:r>
              <a:rPr lang="pt-BR" b="1" dirty="0"/>
              <a:t>”</a:t>
            </a:r>
          </a:p>
          <a:p>
            <a:pPr>
              <a:buNone/>
            </a:pPr>
            <a:r>
              <a:rPr lang="pt-BR" b="1" dirty="0"/>
              <a:t>Objetivo</a:t>
            </a:r>
          </a:p>
          <a:p>
            <a:pPr>
              <a:buNone/>
            </a:pPr>
            <a:r>
              <a:rPr lang="pt-BR" dirty="0"/>
              <a:t>Você deve integrar:</a:t>
            </a:r>
          </a:p>
          <a:p>
            <a:pPr>
              <a:buNone/>
            </a:pP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janela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figuras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movimento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delta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mouse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áudio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colisão</a:t>
            </a:r>
          </a:p>
        </p:txBody>
      </p:sp>
    </p:spTree>
    <p:extLst>
      <p:ext uri="{BB962C8B-B14F-4D97-AF65-F5344CB8AC3E}">
        <p14:creationId xmlns:p14="http://schemas.microsoft.com/office/powerpoint/2010/main" val="2295571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C4FF1-ECB7-7EAD-1BC4-3F26F5CB1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9CB193-1973-F7B6-BD73-88BC1D97C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0637D20-5527-CB9B-2511-21640D7D3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97FE282-75E6-BFBE-EDEB-AEBBED36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0B1570A-F31F-4E8F-D1A2-F99F2C708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63C6B-FE2C-5869-E9EB-DDDCE3E4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71D13C-50AB-6335-8EC3-190D42F5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B41C0E25-1D7B-AB13-9067-C2ACAAD2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29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59055A9-EE0E-A18C-DF2F-D268BBE08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6C1134-8D24-CB98-A35E-FB65F60E5DDE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FEC5C7B-83FD-42B2-6405-95EF91C5ABC9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02CA812-896E-AC56-01CA-8A4845C72BFE}"/>
              </a:ext>
            </a:extLst>
          </p:cNvPr>
          <p:cNvSpPr txBox="1"/>
          <p:nvPr/>
        </p:nvSpPr>
        <p:spPr>
          <a:xfrm>
            <a:off x="3188576" y="1898754"/>
            <a:ext cx="6377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Regras do Projeto – Vale 2 pontos individuais.</a:t>
            </a:r>
          </a:p>
          <a:p>
            <a:pPr>
              <a:buNone/>
            </a:pPr>
            <a:r>
              <a:rPr lang="pt-BR" dirty="0">
                <a:solidFill>
                  <a:srgbClr val="FF0000"/>
                </a:solidFill>
              </a:rPr>
              <a:t>O jogo deve ter:</a:t>
            </a:r>
          </a:p>
          <a:p>
            <a:pPr>
              <a:buNone/>
            </a:pPr>
            <a:endParaRPr lang="pt-BR" dirty="0"/>
          </a:p>
          <a:p>
            <a:pPr>
              <a:buNone/>
            </a:pPr>
            <a:r>
              <a:rPr lang="pt-BR" dirty="0"/>
              <a:t>✅ personagem/figura</a:t>
            </a:r>
            <a:br>
              <a:rPr lang="pt-BR" dirty="0"/>
            </a:br>
            <a:r>
              <a:rPr lang="pt-BR" dirty="0"/>
              <a:t>✅ movimento automático</a:t>
            </a:r>
            <a:br>
              <a:rPr lang="pt-BR" dirty="0"/>
            </a:br>
            <a:r>
              <a:rPr lang="pt-BR" dirty="0"/>
              <a:t>✅ clique do mouse</a:t>
            </a:r>
            <a:br>
              <a:rPr lang="pt-BR" dirty="0"/>
            </a:br>
            <a:r>
              <a:rPr lang="pt-BR" dirty="0"/>
              <a:t>✅ som de tiro</a:t>
            </a:r>
            <a:br>
              <a:rPr lang="pt-BR" dirty="0"/>
            </a:br>
            <a:r>
              <a:rPr lang="pt-BR" dirty="0"/>
              <a:t>✅ música de fundo</a:t>
            </a:r>
            <a:br>
              <a:rPr lang="pt-BR" dirty="0"/>
            </a:br>
            <a:r>
              <a:rPr lang="pt-BR" dirty="0"/>
              <a:t>✅ reinício do sprite</a:t>
            </a:r>
            <a:br>
              <a:rPr lang="pt-BR" dirty="0"/>
            </a:br>
            <a:r>
              <a:rPr lang="pt-BR" dirty="0"/>
              <a:t>✅ pelo menos 2 sons</a:t>
            </a:r>
            <a:br>
              <a:rPr lang="pt-BR" dirty="0"/>
            </a:br>
            <a:r>
              <a:rPr lang="pt-BR" dirty="0"/>
              <a:t>✅ FPS estável</a:t>
            </a:r>
            <a:br>
              <a:rPr lang="pt-BR" dirty="0"/>
            </a:br>
            <a:r>
              <a:rPr lang="pt-BR" dirty="0"/>
              <a:t>✅ código organizado</a:t>
            </a:r>
          </a:p>
        </p:txBody>
      </p:sp>
    </p:spTree>
    <p:extLst>
      <p:ext uri="{BB962C8B-B14F-4D97-AF65-F5344CB8AC3E}">
        <p14:creationId xmlns:p14="http://schemas.microsoft.com/office/powerpoint/2010/main" val="39689657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F74A-6A5B-663D-F383-0F5808F9B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B229D3-ACC5-79C2-136A-C3E4DB2DC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111DCBF-E894-0DE6-0AE0-1AFE10DE0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FA39FE6-13CF-4177-3068-B8E5A2F37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3B7B29B-04C5-14EC-6204-654BA2D85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6E6EAD-BBE8-2A42-39FC-D4622A8C82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492A95-2CDA-3381-7E11-5E497B7F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274C6317-A8E9-F1C9-CEAB-0C2D96C31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30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1A73EEF-299A-3F46-4305-ABC730C2A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6817D48-19CF-2FCA-AB5F-77D2CEEF2343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99B9DDA-D4BC-8020-E284-1B056ADF6B98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A69985F-878E-C215-20F5-7472373ECDFD}"/>
              </a:ext>
            </a:extLst>
          </p:cNvPr>
          <p:cNvSpPr txBox="1"/>
          <p:nvPr/>
        </p:nvSpPr>
        <p:spPr>
          <a:xfrm>
            <a:off x="3188576" y="2175753"/>
            <a:ext cx="63771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Super Desafio Final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b="1" dirty="0">
                <a:solidFill>
                  <a:srgbClr val="FF0000"/>
                </a:solidFill>
              </a:rPr>
              <a:t>Adicionar:</a:t>
            </a:r>
          </a:p>
          <a:p>
            <a:pPr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pontuação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inimigos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tiros visuais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colisão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game over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HUD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barra de vida</a:t>
            </a:r>
          </a:p>
        </p:txBody>
      </p:sp>
    </p:spTree>
    <p:extLst>
      <p:ext uri="{BB962C8B-B14F-4D97-AF65-F5344CB8AC3E}">
        <p14:creationId xmlns:p14="http://schemas.microsoft.com/office/powerpoint/2010/main" val="40816964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B1C8F-F734-18B9-29D1-F96CEF61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8369A-A5AB-F396-B039-8D88132D0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Algorítmos</a:t>
            </a:r>
            <a:r>
              <a:rPr lang="pt-BR" dirty="0"/>
              <a:t> e Lógica de Programação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3D4AEF-0360-105B-0E85-3A73EACCB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87"/>
            <a:ext cx="3211033" cy="45067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26C0D0D-BB85-C653-9D8D-2FDD22561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9421" y="0"/>
            <a:ext cx="914400" cy="8953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834FC40-67E5-D5CD-913A-EF45381A1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763" y="6049962"/>
            <a:ext cx="1666875" cy="885825"/>
          </a:xfrm>
          <a:prstGeom prst="rect">
            <a:avLst/>
          </a:prstGeom>
        </p:spPr>
      </p:pic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25FEF9-0598-8B47-85FE-A10CA9BD7B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62654" y="6437313"/>
            <a:ext cx="2743200" cy="365125"/>
          </a:xfrm>
        </p:spPr>
        <p:txBody>
          <a:bodyPr/>
          <a:lstStyle/>
          <a:p>
            <a:fld id="{1252DA79-8B18-45D6-908F-5AFC223917F8}" type="datetime1">
              <a:rPr lang="pt-BR" smtClean="0"/>
              <a:t>12/05/2026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616812-F037-B0CD-B43E-04B02376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ALP - Prof. Dr. Murillo Carvalho</a:t>
            </a:r>
          </a:p>
        </p:txBody>
      </p:sp>
      <p:sp>
        <p:nvSpPr>
          <p:cNvPr id="10" name="Espaço Reservado para Número de Slide 9">
            <a:extLst>
              <a:ext uri="{FF2B5EF4-FFF2-40B4-BE49-F238E27FC236}">
                <a16:creationId xmlns:a16="http://schemas.microsoft.com/office/drawing/2014/main" id="{BE1A0D5E-7236-BE28-2D6B-F5F674FE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6146" y="6373812"/>
            <a:ext cx="2743200" cy="365125"/>
          </a:xfrm>
        </p:spPr>
        <p:txBody>
          <a:bodyPr/>
          <a:lstStyle/>
          <a:p>
            <a:fld id="{C91B195F-5D52-4885-9C09-71AF69D09491}" type="slidenum">
              <a:rPr lang="pt-BR" smtClean="0"/>
              <a:t>31</a:t>
            </a:fld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B537EC1-50E9-C01D-92D4-0E0DEC65BA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2410" y="5846756"/>
            <a:ext cx="1480821" cy="987214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666A4C00-9195-40FE-F67C-BE066E6D0677}"/>
              </a:ext>
            </a:extLst>
          </p:cNvPr>
          <p:cNvSpPr/>
          <p:nvPr/>
        </p:nvSpPr>
        <p:spPr>
          <a:xfrm>
            <a:off x="-4763" y="2238703"/>
            <a:ext cx="1045287" cy="231753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00206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C63701-FE52-A51F-23C2-A8871BF02F6A}"/>
              </a:ext>
            </a:extLst>
          </p:cNvPr>
          <p:cNvSpPr txBox="1"/>
          <p:nvPr/>
        </p:nvSpPr>
        <p:spPr>
          <a:xfrm>
            <a:off x="9706735" y="238097"/>
            <a:ext cx="3045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RAYLIB</a:t>
            </a:r>
          </a:p>
          <a:p>
            <a:r>
              <a:rPr lang="pt-BR" b="1" dirty="0"/>
              <a:t>Mini game </a:t>
            </a:r>
            <a:r>
              <a:rPr lang="pt-BR" b="1" dirty="0" err="1"/>
              <a:t>engine</a:t>
            </a:r>
            <a:r>
              <a:rPr lang="pt-BR" b="1" dirty="0"/>
              <a:t> 2D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4E6B365-A18D-DA83-D284-36FB00A25694}"/>
              </a:ext>
            </a:extLst>
          </p:cNvPr>
          <p:cNvSpPr txBox="1"/>
          <p:nvPr/>
        </p:nvSpPr>
        <p:spPr>
          <a:xfrm>
            <a:off x="2144109" y="1760254"/>
            <a:ext cx="908531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O mais importante pedagogicamente</a:t>
            </a:r>
          </a:p>
          <a:p>
            <a:pPr>
              <a:buNone/>
            </a:pPr>
            <a:endParaRPr lang="pt-BR" b="1" dirty="0"/>
          </a:p>
          <a:p>
            <a:pPr>
              <a:buNone/>
            </a:pPr>
            <a:r>
              <a:rPr lang="pt-BR" dirty="0"/>
              <a:t>Sua sequência será excelente se ela seguir:</a:t>
            </a:r>
          </a:p>
          <a:p>
            <a:pPr rtl="0">
              <a:buNone/>
            </a:pPr>
            <a:endParaRPr lang="pt-BR" dirty="0">
              <a:latin typeface="Courier New" panose="02070309020205020404" pitchFamily="49" charset="0"/>
            </a:endParaRPr>
          </a:p>
          <a:p>
            <a:pPr marL="342900" indent="-342900" rtl="0">
              <a:buAutoNum type="arabicPeriod"/>
            </a:pPr>
            <a:r>
              <a:rPr lang="pt-BR" dirty="0">
                <a:latin typeface="Courier New" panose="02070309020205020404" pitchFamily="49" charset="0"/>
              </a:rPr>
              <a:t>Renderizar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2. Desenhar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3. Animar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4. Controlar FPS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5. Usar </a:t>
            </a:r>
            <a:r>
              <a:rPr lang="pt-BR" dirty="0" err="1">
                <a:latin typeface="Courier New" panose="02070309020205020404" pitchFamily="49" charset="0"/>
              </a:rPr>
              <a:t>assets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6. Movimento profissional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7. Áudio</a:t>
            </a:r>
            <a:br>
              <a:rPr lang="pt-BR" dirty="0">
                <a:latin typeface="Courier New" panose="02070309020205020404" pitchFamily="49" charset="0"/>
              </a:rPr>
            </a:br>
            <a:r>
              <a:rPr lang="pt-BR" dirty="0">
                <a:latin typeface="Courier New" panose="02070309020205020404" pitchFamily="49" charset="0"/>
              </a:rPr>
              <a:t>8. Integrar tudo</a:t>
            </a:r>
          </a:p>
          <a:p>
            <a:pPr marL="342900" indent="-342900" rtl="0">
              <a:buAutoNum type="arabicPeriod"/>
            </a:pPr>
            <a:endParaRPr lang="pt-BR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pt-BR" dirty="0">
                <a:highlight>
                  <a:srgbClr val="FFFF00"/>
                </a:highlight>
              </a:rPr>
              <a:t>Isso é literalmente o pipeline mental básico de desenvolvimento de jogos 2D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35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9176</TotalTime>
  <Words>1585</Words>
  <Application>Microsoft Office PowerPoint</Application>
  <PresentationFormat>Widescreen</PresentationFormat>
  <Paragraphs>446</Paragraphs>
  <Slides>31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7" baseType="lpstr">
      <vt:lpstr>Aptos</vt:lpstr>
      <vt:lpstr>Aptos Display</vt:lpstr>
      <vt:lpstr>Arial</vt:lpstr>
      <vt:lpstr>Calibri</vt:lpstr>
      <vt:lpstr>Courier New</vt:lpstr>
      <vt:lpstr>Tema do Office</vt:lpstr>
      <vt:lpstr>Algoritmos  e Lógica de Programação - ALP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  <vt:lpstr>Algorítmos e Lógica de Programação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Compiladores</dc:title>
  <dc:creator>Miguel Enrique Parra Muñoz</dc:creator>
  <cp:lastModifiedBy>Murillo edson de carvalho souza</cp:lastModifiedBy>
  <cp:revision>110</cp:revision>
  <dcterms:created xsi:type="dcterms:W3CDTF">2024-08-02T14:46:28Z</dcterms:created>
  <dcterms:modified xsi:type="dcterms:W3CDTF">2026-05-12T04:26:48Z</dcterms:modified>
</cp:coreProperties>
</file>